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jx1s49VC5LDo9+BebAvnsfT+FB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54E91F2-B362-45D5-AED7-11E8FC1FD59A}">
  <a:tblStyle styleId="{554E91F2-B362-45D5-AED7-11E8FC1FD59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64F3B0A-22EB-4365-85DB-DF92B2E35C1A}" styleName="Table_1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89"/>
  </p:normalViewPr>
  <p:slideViewPr>
    <p:cSldViewPr snapToGrid="0">
      <p:cViewPr varScale="1">
        <p:scale>
          <a:sx n="108" d="100"/>
          <a:sy n="108" d="100"/>
        </p:scale>
        <p:origin x="56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 sz="1200"/>
              <a:t>http://minheeblog.tistory.com/category/PPT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b68fc2080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1b68fc2080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 sz="1200"/>
              <a:t>http://minheeblog.tistory.com/category/PPT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1b68fc20802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f708cc8cc1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g1f708cc8cc1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 sz="1200"/>
              <a:t>http://minheeblog.tistory.com/category/PPT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g1f708cc8cc1_2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f6ac97477a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1f6ac97477a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 sz="1200"/>
              <a:t>http://minheeblog.tistory.com/category/PPT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1f6ac97477a_0_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f6ac97477a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g1f6ac97477a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 sz="1200"/>
              <a:t>http://minheeblog.tistory.com/category/PPT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1f6ac97477a_0_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f6ac97477a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1f6ac97477a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 sz="1200"/>
              <a:t>http://minheeblog.tistory.com/category/PPT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g1f6ac97477a_0_10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162a82117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g2162a82117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 sz="1200"/>
              <a:t>http://minheeblog.tistory.com/category/PPT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g2162a82117f_0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162a82117f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2162a82117f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 sz="1200"/>
              <a:t>http://minheeblog.tistory.com/category/PPT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g2162a82117f_0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162a82117f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" name="Google Shape;218;g2162a82117f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 sz="1200"/>
              <a:t>http://minheeblog.tistory.com/category/PPT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g2162a82117f_0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162a82117f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g2162a82117f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 sz="1200"/>
              <a:t>http://minheeblog.tistory.com/category/PPT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g2162a82117f_0_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162a82117f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g2162a82117f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 sz="1200"/>
              <a:t>http://minheeblog.tistory.com/category/PPT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g2162a82117f_0_6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26754d6aef_4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g226754d6aef_4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 sz="1200"/>
              <a:t>http://minheeblog.tistory.com/category/PPT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226754d6aef_4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 sz="1200"/>
              <a:t>http://minheeblog.tistory.com/category/PPT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26754d6aef_3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g226754d6aef_3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 sz="1200"/>
              <a:t>http://minheeblog.tistory.com/category/PPT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226754d6aef_3_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26754d6aef_3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" name="Google Shape;315;g226754d6aef_3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 sz="1200"/>
              <a:t>http://minheeblog.tistory.com/category/PPT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g226754d6aef_3_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26754d6aef_3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g226754d6aef_3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 sz="1200"/>
              <a:t>http://minheeblog.tistory.com/category/PPT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226754d6aef_3_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b68fc20802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1b68fc20802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 sz="1200"/>
              <a:t>http://minheeblog.tistory.com/category/PPT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g1b68fc20802_0_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1b68fc20802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4" name="Google Shape;364;g1b68fc20802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 sz="1200"/>
              <a:t>http://minheeblog.tistory.com/category/PPT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g1b68fc20802_0_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b68fc20802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g1b68fc20802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 sz="1200"/>
              <a:t>http://minheeblog.tistory.com/category/PPT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g1b68fc20802_0_7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26754d6aef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4" name="Google Shape;394;g226754d6aef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 sz="1200"/>
              <a:t>http://minheeblog.tistory.com/category/PPT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g226754d6aef_0_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b68fc20802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0" name="Google Shape;410;g1b68fc20802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 sz="1200"/>
              <a:t>http://minheeblog.tistory.com/category/PPT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g1b68fc20802_0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1b68fc20802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9" name="Google Shape;419;g1b68fc20802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 sz="1200"/>
              <a:t>http://minheeblog.tistory.com/category/PPT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g1b68fc20802_0_8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1b68fc20802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2" name="Google Shape;432;g1b68fc20802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 sz="1200"/>
              <a:t>http://minheeblog.tistory.com/category/PPT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g1b68fc20802_0_9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9" name="Google Shape;44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 sz="1200"/>
              <a:t>http://minheeblog.tistory.com/category/PPT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algun Gothic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1734956" y="2890001"/>
            <a:ext cx="5674087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100" b="1" dirty="0" err="1">
                <a:solidFill>
                  <a:schemeClr val="lt1"/>
                </a:solidFill>
              </a:rPr>
              <a:t>AutoGluon을</a:t>
            </a:r>
            <a:r>
              <a:rPr lang="ko-KR" sz="4100" b="1" dirty="0">
                <a:solidFill>
                  <a:schemeClr val="lt1"/>
                </a:solidFill>
              </a:rPr>
              <a:t> </a:t>
            </a:r>
            <a:endParaRPr sz="4100" b="1" dirty="0">
              <a:solidFill>
                <a:schemeClr val="lt1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100" b="1" dirty="0">
                <a:solidFill>
                  <a:schemeClr val="lt1"/>
                </a:solidFill>
              </a:rPr>
              <a:t>활용한 모델 성능 향상</a:t>
            </a:r>
            <a:endParaRPr sz="4100" b="1" dirty="0">
              <a:solidFill>
                <a:schemeClr val="lt1"/>
              </a:solidFill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3221825" y="4763499"/>
            <a:ext cx="27363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Aiming</a:t>
            </a:r>
            <a:endParaRPr sz="1600" b="1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박재현, 이동훈, 이명주, 정민호, 최윤서</a:t>
            </a:r>
            <a:endParaRPr sz="1600" b="1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171475" y="2305700"/>
            <a:ext cx="48048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b="1">
                <a:solidFill>
                  <a:srgbClr val="0F243E"/>
                </a:solidFill>
                <a:latin typeface="Malgun Gothic"/>
                <a:ea typeface="Malgun Gothic"/>
                <a:cs typeface="Malgun Gothic"/>
                <a:sym typeface="Malgun Gothic"/>
              </a:rPr>
              <a:t>LGAimers 스마트 공장 제품 품질 상태 분류 AI 모델 개발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b68fc20802_0_0"/>
          <p:cNvSpPr/>
          <p:nvPr/>
        </p:nvSpPr>
        <p:spPr>
          <a:xfrm>
            <a:off x="1259136" y="3213409"/>
            <a:ext cx="1368300" cy="1944300"/>
          </a:xfrm>
          <a:prstGeom prst="rect">
            <a:avLst/>
          </a:prstGeom>
          <a:solidFill>
            <a:schemeClr val="lt1">
              <a:alpha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8" name="Google Shape;98;g1b68fc20802_0_0"/>
          <p:cNvSpPr txBox="1"/>
          <p:nvPr/>
        </p:nvSpPr>
        <p:spPr>
          <a:xfrm>
            <a:off x="323528" y="548680"/>
            <a:ext cx="4176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sz="24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9" name="Google Shape;99;g1b68fc20802_0_0"/>
          <p:cNvSpPr txBox="1"/>
          <p:nvPr/>
        </p:nvSpPr>
        <p:spPr>
          <a:xfrm>
            <a:off x="1248503" y="1701241"/>
            <a:ext cx="8496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01     02     03     04   </a:t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" name="Google Shape;100;g1b68fc20802_0_0"/>
          <p:cNvCxnSpPr/>
          <p:nvPr/>
        </p:nvCxnSpPr>
        <p:spPr>
          <a:xfrm>
            <a:off x="1392519" y="2637345"/>
            <a:ext cx="11520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1" name="Google Shape;101;g1b68fc20802_0_0"/>
          <p:cNvCxnSpPr/>
          <p:nvPr/>
        </p:nvCxnSpPr>
        <p:spPr>
          <a:xfrm>
            <a:off x="3059336" y="2637345"/>
            <a:ext cx="11520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" name="Google Shape;102;g1b68fc20802_0_0"/>
          <p:cNvCxnSpPr/>
          <p:nvPr/>
        </p:nvCxnSpPr>
        <p:spPr>
          <a:xfrm>
            <a:off x="4787528" y="2637345"/>
            <a:ext cx="11520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3" name="Google Shape;103;g1b68fc20802_0_0"/>
          <p:cNvCxnSpPr/>
          <p:nvPr/>
        </p:nvCxnSpPr>
        <p:spPr>
          <a:xfrm>
            <a:off x="6515720" y="2637345"/>
            <a:ext cx="11520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4" name="Google Shape;104;g1b68fc20802_0_0"/>
          <p:cNvSpPr txBox="1"/>
          <p:nvPr/>
        </p:nvSpPr>
        <p:spPr>
          <a:xfrm>
            <a:off x="1256713" y="2772069"/>
            <a:ext cx="1368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분석 개요</a:t>
            </a:r>
            <a:endParaRPr/>
          </a:p>
        </p:txBody>
      </p:sp>
      <p:sp>
        <p:nvSpPr>
          <p:cNvPr id="105" name="Google Shape;105;g1b68fc20802_0_0"/>
          <p:cNvSpPr txBox="1"/>
          <p:nvPr/>
        </p:nvSpPr>
        <p:spPr>
          <a:xfrm>
            <a:off x="1259136" y="3357425"/>
            <a:ext cx="13683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스마트공장의 제어 시스템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AI모델</a:t>
            </a:r>
            <a:endParaRPr sz="12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 sz="12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모델 개요</a:t>
            </a:r>
            <a:endParaRPr/>
          </a:p>
        </p:txBody>
      </p:sp>
      <p:sp>
        <p:nvSpPr>
          <p:cNvPr id="106" name="Google Shape;106;g1b68fc20802_0_0"/>
          <p:cNvSpPr/>
          <p:nvPr/>
        </p:nvSpPr>
        <p:spPr>
          <a:xfrm>
            <a:off x="2987328" y="3213409"/>
            <a:ext cx="1368300" cy="1944300"/>
          </a:xfrm>
          <a:prstGeom prst="rect">
            <a:avLst/>
          </a:prstGeom>
          <a:solidFill>
            <a:schemeClr val="lt1">
              <a:alpha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" name="Google Shape;107;g1b68fc20802_0_0"/>
          <p:cNvSpPr/>
          <p:nvPr/>
        </p:nvSpPr>
        <p:spPr>
          <a:xfrm>
            <a:off x="4715520" y="3213409"/>
            <a:ext cx="1368300" cy="1944300"/>
          </a:xfrm>
          <a:prstGeom prst="rect">
            <a:avLst/>
          </a:prstGeom>
          <a:solidFill>
            <a:schemeClr val="lt1">
              <a:alpha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" name="Google Shape;108;g1b68fc20802_0_0"/>
          <p:cNvSpPr/>
          <p:nvPr/>
        </p:nvSpPr>
        <p:spPr>
          <a:xfrm>
            <a:off x="6443712" y="3213409"/>
            <a:ext cx="1368300" cy="1944300"/>
          </a:xfrm>
          <a:prstGeom prst="rect">
            <a:avLst/>
          </a:prstGeom>
          <a:solidFill>
            <a:schemeClr val="lt1">
              <a:alpha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9" name="Google Shape;109;g1b68fc20802_0_0"/>
          <p:cNvSpPr txBox="1"/>
          <p:nvPr/>
        </p:nvSpPr>
        <p:spPr>
          <a:xfrm>
            <a:off x="2951325" y="3276100"/>
            <a:ext cx="15843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변수 제거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파생 변수 생성</a:t>
            </a:r>
            <a:endParaRPr sz="12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이상치 제거 및    결측치 처리</a:t>
            </a:r>
            <a:endParaRPr sz="12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-생성 라인 구분</a:t>
            </a:r>
            <a:endParaRPr sz="12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0" name="Google Shape;110;g1b68fc20802_0_0"/>
          <p:cNvSpPr txBox="1"/>
          <p:nvPr/>
        </p:nvSpPr>
        <p:spPr>
          <a:xfrm>
            <a:off x="4715520" y="3357425"/>
            <a:ext cx="13683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K-fold 교차검증</a:t>
            </a:r>
            <a:endParaRPr sz="12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하이퍼파라미터 최적화</a:t>
            </a:r>
            <a:endParaRPr sz="12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 sz="12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CatBoost 예측 모델 생성</a:t>
            </a:r>
            <a:endParaRPr sz="12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1" name="Google Shape;111;g1b68fc20802_0_0"/>
          <p:cNvSpPr txBox="1"/>
          <p:nvPr/>
        </p:nvSpPr>
        <p:spPr>
          <a:xfrm>
            <a:off x="6443712" y="3357425"/>
            <a:ext cx="13683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컴퓨팅 자원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학습 소요 시간</a:t>
            </a:r>
            <a:endParaRPr sz="12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예측 소요 시간</a:t>
            </a:r>
            <a:endParaRPr sz="12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" name="Google Shape;112;g1b68fc20802_0_0"/>
          <p:cNvSpPr txBox="1"/>
          <p:nvPr/>
        </p:nvSpPr>
        <p:spPr>
          <a:xfrm>
            <a:off x="2915320" y="2772069"/>
            <a:ext cx="1656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분석</a:t>
            </a:r>
            <a:endParaRPr/>
          </a:p>
        </p:txBody>
      </p:sp>
      <p:sp>
        <p:nvSpPr>
          <p:cNvPr id="113" name="Google Shape;113;g1b68fc20802_0_0"/>
          <p:cNvSpPr txBox="1"/>
          <p:nvPr/>
        </p:nvSpPr>
        <p:spPr>
          <a:xfrm>
            <a:off x="4571504" y="2772069"/>
            <a:ext cx="1656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모델링</a:t>
            </a:r>
            <a:endParaRPr/>
          </a:p>
        </p:txBody>
      </p:sp>
      <p:sp>
        <p:nvSpPr>
          <p:cNvPr id="114" name="Google Shape;114;g1b68fc20802_0_0"/>
          <p:cNvSpPr txBox="1"/>
          <p:nvPr/>
        </p:nvSpPr>
        <p:spPr>
          <a:xfrm>
            <a:off x="6155680" y="2781361"/>
            <a:ext cx="187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적용 가능성</a:t>
            </a:r>
            <a:endParaRPr/>
          </a:p>
        </p:txBody>
      </p:sp>
      <p:sp>
        <p:nvSpPr>
          <p:cNvPr id="115" name="Google Shape;115;g1b68fc20802_0_0"/>
          <p:cNvSpPr txBox="1"/>
          <p:nvPr/>
        </p:nvSpPr>
        <p:spPr>
          <a:xfrm>
            <a:off x="3203848" y="5591591"/>
            <a:ext cx="2736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Aiming</a:t>
            </a:r>
            <a:endParaRPr sz="18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f708cc8cc1_2_7"/>
          <p:cNvSpPr txBox="1"/>
          <p:nvPr/>
        </p:nvSpPr>
        <p:spPr>
          <a:xfrm>
            <a:off x="-71047" y="201355"/>
            <a:ext cx="4176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LGAimers 스마트 공장 제품 품질 상태 분류 AI</a:t>
            </a:r>
            <a:endParaRPr sz="24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" name="Google Shape;122;g1f708cc8cc1_2_7"/>
          <p:cNvSpPr txBox="1"/>
          <p:nvPr/>
        </p:nvSpPr>
        <p:spPr>
          <a:xfrm>
            <a:off x="3297628" y="2554691"/>
            <a:ext cx="8496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ko-KR" sz="5400">
                <a:solidFill>
                  <a:schemeClr val="lt1"/>
                </a:solidFill>
              </a:rPr>
              <a:t>1</a:t>
            </a:r>
            <a:r>
              <a:rPr lang="ko-KR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5400">
                <a:solidFill>
                  <a:schemeClr val="lt1"/>
                </a:solidFill>
              </a:rPr>
              <a:t> 분석 개요</a:t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" name="Google Shape;123;g1f708cc8cc1_2_7"/>
          <p:cNvCxnSpPr/>
          <p:nvPr/>
        </p:nvCxnSpPr>
        <p:spPr>
          <a:xfrm rot="10800000" flipH="1">
            <a:off x="2901925" y="3644225"/>
            <a:ext cx="6242100" cy="276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4" name="Google Shape;124;g1f708cc8cc1_2_7"/>
          <p:cNvSpPr txBox="1"/>
          <p:nvPr/>
        </p:nvSpPr>
        <p:spPr>
          <a:xfrm>
            <a:off x="5126171" y="3968375"/>
            <a:ext cx="35208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ko-KR" sz="18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스마트 공장의 제어 시스템</a:t>
            </a:r>
            <a:endParaRPr sz="18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ko-KR" sz="18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모델</a:t>
            </a:r>
            <a:endParaRPr sz="18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ko-KR" sz="18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개요</a:t>
            </a:r>
            <a:endParaRPr sz="18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f6ac97477a_0_27"/>
          <p:cNvSpPr/>
          <p:nvPr/>
        </p:nvSpPr>
        <p:spPr>
          <a:xfrm>
            <a:off x="251520" y="620688"/>
            <a:ext cx="8640900" cy="5976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1" name="Google Shape;131;g1f6ac97477a_0_27"/>
          <p:cNvSpPr/>
          <p:nvPr/>
        </p:nvSpPr>
        <p:spPr>
          <a:xfrm>
            <a:off x="575575" y="2102504"/>
            <a:ext cx="8280900" cy="23088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2" name="Google Shape;132;g1f6ac97477a_0_27"/>
          <p:cNvSpPr/>
          <p:nvPr/>
        </p:nvSpPr>
        <p:spPr>
          <a:xfrm>
            <a:off x="4067944" y="74100"/>
            <a:ext cx="936000" cy="93600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3" name="Google Shape;133;g1f6ac97477a_0_27"/>
          <p:cNvSpPr txBox="1"/>
          <p:nvPr/>
        </p:nvSpPr>
        <p:spPr>
          <a:xfrm>
            <a:off x="3995936" y="479095"/>
            <a:ext cx="108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ko-KR" sz="2400">
                <a:solidFill>
                  <a:schemeClr val="lt1"/>
                </a:solidFill>
              </a:rPr>
              <a:t>1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1f6ac97477a_0_27"/>
          <p:cNvSpPr txBox="1"/>
          <p:nvPr/>
        </p:nvSpPr>
        <p:spPr>
          <a:xfrm>
            <a:off x="539549" y="1556800"/>
            <a:ext cx="4606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1) 스마트 공장의 제어 시스템</a:t>
            </a:r>
            <a:endParaRPr sz="18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5" name="Google Shape;135;g1f6ac97477a_0_27"/>
          <p:cNvSpPr txBox="1"/>
          <p:nvPr/>
        </p:nvSpPr>
        <p:spPr>
          <a:xfrm>
            <a:off x="755576" y="1844824"/>
            <a:ext cx="7920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6" name="Google Shape;136;g1f6ac97477a_0_27"/>
          <p:cNvSpPr txBox="1"/>
          <p:nvPr/>
        </p:nvSpPr>
        <p:spPr>
          <a:xfrm>
            <a:off x="827584" y="2255912"/>
            <a:ext cx="7128900" cy="25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65112" marR="0" lvl="0" indent="-265112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스마트 공장의 성숙도</a:t>
            </a:r>
            <a:endParaRPr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65112" marR="0" lvl="0" indent="-265112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</a:t>
            </a:r>
            <a:r>
              <a:rPr lang="ko-KR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ICT 미적용 단계</a:t>
            </a:r>
            <a:r>
              <a:rPr lang="ko-KR" sz="14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r>
              <a:rPr lang="ko-KR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모든 제어 시스템을 수동으로 작업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</a:t>
            </a:r>
            <a:r>
              <a:rPr lang="ko-KR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기초수준 단계</a:t>
            </a:r>
            <a:r>
              <a:rPr lang="ko-KR" sz="14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r>
              <a:rPr lang="ko-KR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바코드나 RFID 등 기초 ICT 활용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</a:t>
            </a:r>
            <a:r>
              <a:rPr lang="ko-KR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중간수준 1단계</a:t>
            </a:r>
            <a:r>
              <a:rPr lang="ko-KR" sz="14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r>
              <a:rPr lang="ko-KR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설비 데이터를 수집, 활용하여 운영의 자동화 지향</a:t>
            </a:r>
            <a:endParaRPr sz="14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④ </a:t>
            </a:r>
            <a:r>
              <a:rPr lang="ko-KR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중간수준 2단계</a:t>
            </a:r>
            <a:r>
              <a:rPr lang="ko-KR" sz="14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</a:t>
            </a:r>
            <a:r>
              <a:rPr lang="ko-KR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데이터를 활용하여 실시간 설비 통합 제어</a:t>
            </a:r>
            <a:endParaRPr sz="14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⑤ 고도화 단계: 완전히 자동화된 설비를 기반으로 사이버 공간 상에서 비즈니스 실현</a:t>
            </a:r>
            <a:endParaRPr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7" name="Google Shape;137;g1f6ac97477a_0_27"/>
          <p:cNvSpPr txBox="1"/>
          <p:nvPr/>
        </p:nvSpPr>
        <p:spPr>
          <a:xfrm>
            <a:off x="827584" y="4797152"/>
            <a:ext cx="1872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우클릭 그림바꾸기로 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그림바꿔주세요 </a:t>
            </a:r>
            <a:endParaRPr/>
          </a:p>
        </p:txBody>
      </p:sp>
      <p:sp>
        <p:nvSpPr>
          <p:cNvPr id="138" name="Google Shape;138;g1f6ac97477a_0_27"/>
          <p:cNvSpPr txBox="1"/>
          <p:nvPr/>
        </p:nvSpPr>
        <p:spPr>
          <a:xfrm>
            <a:off x="3563888" y="4797152"/>
            <a:ext cx="1872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우클릭 그림바꾸기로 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그림바꿔주세요 </a:t>
            </a:r>
            <a:endParaRPr/>
          </a:p>
        </p:txBody>
      </p:sp>
      <p:sp>
        <p:nvSpPr>
          <p:cNvPr id="139" name="Google Shape;139;g1f6ac97477a_0_27"/>
          <p:cNvSpPr txBox="1"/>
          <p:nvPr/>
        </p:nvSpPr>
        <p:spPr>
          <a:xfrm>
            <a:off x="6516216" y="4797152"/>
            <a:ext cx="1872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우클릭 그림바꾸기로 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그림바꿔주요 </a:t>
            </a:r>
            <a:endParaRPr/>
          </a:p>
        </p:txBody>
      </p:sp>
      <p:sp>
        <p:nvSpPr>
          <p:cNvPr id="140" name="Google Shape;140;g1f6ac97477a_0_27"/>
          <p:cNvSpPr txBox="1"/>
          <p:nvPr/>
        </p:nvSpPr>
        <p:spPr>
          <a:xfrm>
            <a:off x="7164288" y="6546830"/>
            <a:ext cx="1728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MINHEEBLOG</a:t>
            </a:r>
            <a:endParaRPr sz="1600">
              <a:solidFill>
                <a:srgbClr val="BFBFB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" name="Google Shape;141;g1f6ac97477a_0_27"/>
          <p:cNvSpPr/>
          <p:nvPr/>
        </p:nvSpPr>
        <p:spPr>
          <a:xfrm>
            <a:off x="827584" y="4941168"/>
            <a:ext cx="1296000" cy="864000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2" name="Google Shape;142;g1f6ac97477a_0_27"/>
          <p:cNvSpPr/>
          <p:nvPr/>
        </p:nvSpPr>
        <p:spPr>
          <a:xfrm>
            <a:off x="2339752" y="4869160"/>
            <a:ext cx="6192600" cy="1152000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공장 제어 시스템의 자동화를 위해 품질 관련 데이터 수집, 분석과 활용이 필수적</a:t>
            </a: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ㅇㅇ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f6ac97477a_0_51"/>
          <p:cNvSpPr/>
          <p:nvPr/>
        </p:nvSpPr>
        <p:spPr>
          <a:xfrm>
            <a:off x="251520" y="620688"/>
            <a:ext cx="8640900" cy="5976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9" name="Google Shape;149;g1f6ac97477a_0_51"/>
          <p:cNvSpPr/>
          <p:nvPr/>
        </p:nvSpPr>
        <p:spPr>
          <a:xfrm>
            <a:off x="4067944" y="74100"/>
            <a:ext cx="936000" cy="93600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0" name="Google Shape;150;g1f6ac97477a_0_51"/>
          <p:cNvSpPr txBox="1"/>
          <p:nvPr/>
        </p:nvSpPr>
        <p:spPr>
          <a:xfrm>
            <a:off x="3995936" y="479095"/>
            <a:ext cx="108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1f6ac97477a_0_51"/>
          <p:cNvSpPr txBox="1"/>
          <p:nvPr/>
        </p:nvSpPr>
        <p:spPr>
          <a:xfrm>
            <a:off x="2483768" y="1412776"/>
            <a:ext cx="4176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2) AI모델의 이점</a:t>
            </a:r>
            <a:endParaRPr sz="1800" b="1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2" name="Google Shape;152;g1f6ac97477a_0_51"/>
          <p:cNvSpPr txBox="1"/>
          <p:nvPr/>
        </p:nvSpPr>
        <p:spPr>
          <a:xfrm>
            <a:off x="683568" y="2204864"/>
            <a:ext cx="7488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53" name="Google Shape;153;g1f6ac97477a_0_51"/>
          <p:cNvGrpSpPr/>
          <p:nvPr/>
        </p:nvGrpSpPr>
        <p:grpSpPr>
          <a:xfrm>
            <a:off x="1187624" y="2103337"/>
            <a:ext cx="6936432" cy="4059936"/>
            <a:chOff x="0" y="2033"/>
            <a:chExt cx="6936432" cy="4059936"/>
          </a:xfrm>
        </p:grpSpPr>
        <p:sp>
          <p:nvSpPr>
            <p:cNvPr id="154" name="Google Shape;154;g1f6ac97477a_0_51"/>
            <p:cNvSpPr/>
            <p:nvPr/>
          </p:nvSpPr>
          <p:spPr>
            <a:xfrm rot="5400000">
              <a:off x="4325382" y="-1728485"/>
              <a:ext cx="782700" cy="44394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CFD7E7">
                <a:alpha val="89800"/>
              </a:srgbClr>
            </a:solidFill>
            <a:ln w="9525" cap="flat" cmpd="sng">
              <a:solidFill>
                <a:srgbClr val="CFD7E7">
                  <a:alpha val="898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g1f6ac97477a_0_51"/>
            <p:cNvSpPr txBox="1"/>
            <p:nvPr/>
          </p:nvSpPr>
          <p:spPr>
            <a:xfrm>
              <a:off x="2497116" y="138069"/>
              <a:ext cx="4401000" cy="70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26650" rIns="53325" bIns="26650" anchor="ctr" anchorCtr="0">
              <a:noAutofit/>
            </a:bodyPr>
            <a:lstStyle/>
            <a:p>
              <a:pPr marL="114300" marR="0" lvl="1" indent="-1143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algun Gothic"/>
                <a:buChar char="•"/>
              </a:pPr>
              <a:r>
                <a:rPr lang="ko-KR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빅데이터 분석을 통한 인적 오류 예방</a:t>
              </a:r>
              <a:endParaRPr/>
            </a:p>
          </p:txBody>
        </p:sp>
        <p:sp>
          <p:nvSpPr>
            <p:cNvPr id="156" name="Google Shape;156;g1f6ac97477a_0_51"/>
            <p:cNvSpPr/>
            <p:nvPr/>
          </p:nvSpPr>
          <p:spPr>
            <a:xfrm>
              <a:off x="0" y="2033"/>
              <a:ext cx="2497200" cy="9783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2D5C97"/>
                </a:gs>
                <a:gs pos="80000">
                  <a:srgbClr val="3C7AC5"/>
                </a:gs>
                <a:gs pos="100000">
                  <a:srgbClr val="397BC9"/>
                </a:gs>
              </a:gsLst>
              <a:lin ang="16200038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g1f6ac97477a_0_51"/>
            <p:cNvSpPr txBox="1"/>
            <p:nvPr/>
          </p:nvSpPr>
          <p:spPr>
            <a:xfrm>
              <a:off x="47756" y="49789"/>
              <a:ext cx="2401500" cy="88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750" tIns="32375" rIns="64750" bIns="3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Malgun Gothic"/>
                <a:buNone/>
              </a:pPr>
              <a:r>
                <a:rPr lang="ko-KR" sz="1700" b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정확성</a:t>
              </a:r>
              <a:endParaRPr sz="17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8" name="Google Shape;158;g1f6ac97477a_0_51"/>
            <p:cNvSpPr/>
            <p:nvPr/>
          </p:nvSpPr>
          <p:spPr>
            <a:xfrm rot="5400000">
              <a:off x="4325382" y="-701275"/>
              <a:ext cx="782700" cy="44394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CFD7E7">
                <a:alpha val="89800"/>
              </a:srgbClr>
            </a:solidFill>
            <a:ln w="9525" cap="flat" cmpd="sng">
              <a:solidFill>
                <a:srgbClr val="CFD7E7">
                  <a:alpha val="898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g1f6ac97477a_0_51"/>
            <p:cNvSpPr txBox="1"/>
            <p:nvPr/>
          </p:nvSpPr>
          <p:spPr>
            <a:xfrm>
              <a:off x="2497116" y="1165280"/>
              <a:ext cx="4401000" cy="70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26650" rIns="53325" bIns="26650" anchor="ctr" anchorCtr="0">
              <a:noAutofit/>
            </a:bodyPr>
            <a:lstStyle/>
            <a:p>
              <a:pPr marL="114300" marR="0" lvl="1" indent="-1143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algun Gothic"/>
                <a:buChar char="•"/>
              </a:pPr>
              <a:r>
                <a:rPr lang="ko-KR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인력 비용 절감 및 품질 향상으로 인한 폐기 비용 절약</a:t>
              </a:r>
              <a:endParaRPr/>
            </a:p>
          </p:txBody>
        </p:sp>
        <p:sp>
          <p:nvSpPr>
            <p:cNvPr id="160" name="Google Shape;160;g1f6ac97477a_0_51"/>
            <p:cNvSpPr/>
            <p:nvPr/>
          </p:nvSpPr>
          <p:spPr>
            <a:xfrm>
              <a:off x="0" y="1029245"/>
              <a:ext cx="2497200" cy="9783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2D5C97"/>
                </a:gs>
                <a:gs pos="80000">
                  <a:srgbClr val="3C7AC5"/>
                </a:gs>
                <a:gs pos="100000">
                  <a:srgbClr val="397BC9"/>
                </a:gs>
              </a:gsLst>
              <a:lin ang="16200038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g1f6ac97477a_0_51"/>
            <p:cNvSpPr txBox="1"/>
            <p:nvPr/>
          </p:nvSpPr>
          <p:spPr>
            <a:xfrm>
              <a:off x="47756" y="1077001"/>
              <a:ext cx="2401500" cy="88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750" tIns="32375" rIns="64750" bIns="3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Malgun Gothic"/>
                <a:buNone/>
              </a:pPr>
              <a:r>
                <a:rPr lang="ko-KR" sz="1700" b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저비용</a:t>
              </a:r>
              <a:endParaRPr sz="17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2" name="Google Shape;162;g1f6ac97477a_0_51"/>
            <p:cNvSpPr/>
            <p:nvPr/>
          </p:nvSpPr>
          <p:spPr>
            <a:xfrm rot="5400000">
              <a:off x="4325382" y="325937"/>
              <a:ext cx="782700" cy="44394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CFD7E7">
                <a:alpha val="89800"/>
              </a:srgbClr>
            </a:solidFill>
            <a:ln w="9525" cap="flat" cmpd="sng">
              <a:solidFill>
                <a:srgbClr val="CFD7E7">
                  <a:alpha val="898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g1f6ac97477a_0_51"/>
            <p:cNvSpPr txBox="1"/>
            <p:nvPr/>
          </p:nvSpPr>
          <p:spPr>
            <a:xfrm>
              <a:off x="2497116" y="2192492"/>
              <a:ext cx="4401000" cy="70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26650" rIns="53325" bIns="26650" anchor="ctr" anchorCtr="0">
              <a:noAutofit/>
            </a:bodyPr>
            <a:lstStyle/>
            <a:p>
              <a:pPr marL="114300" marR="0" lvl="1" indent="-114300" algn="l" rtl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algun Gothic"/>
                <a:buChar char="•"/>
              </a:pPr>
              <a:r>
                <a:rPr lang="ko-KR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실시간 모니터링을 통한 불량품 발생 최소화</a:t>
              </a:r>
              <a:endParaRPr sz="14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4" name="Google Shape;164;g1f6ac97477a_0_51"/>
            <p:cNvSpPr/>
            <p:nvPr/>
          </p:nvSpPr>
          <p:spPr>
            <a:xfrm>
              <a:off x="0" y="2056457"/>
              <a:ext cx="2497200" cy="9783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2D5C97"/>
                </a:gs>
                <a:gs pos="80000">
                  <a:srgbClr val="3C7AC5"/>
                </a:gs>
                <a:gs pos="100000">
                  <a:srgbClr val="397BC9"/>
                </a:gs>
              </a:gsLst>
              <a:lin ang="16200038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g1f6ac97477a_0_51"/>
            <p:cNvSpPr txBox="1"/>
            <p:nvPr/>
          </p:nvSpPr>
          <p:spPr>
            <a:xfrm>
              <a:off x="47756" y="2104213"/>
              <a:ext cx="2401500" cy="88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750" tIns="32375" rIns="64750" bIns="3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Malgun Gothic"/>
                <a:buNone/>
              </a:pPr>
              <a:r>
                <a:rPr lang="ko-KR" sz="1700" b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실시간 모니터링</a:t>
              </a:r>
              <a:endParaRPr sz="17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6" name="Google Shape;166;g1f6ac97477a_0_51"/>
            <p:cNvSpPr/>
            <p:nvPr/>
          </p:nvSpPr>
          <p:spPr>
            <a:xfrm rot="5400000">
              <a:off x="4325382" y="1353149"/>
              <a:ext cx="782700" cy="44394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CFD7E7">
                <a:alpha val="89800"/>
              </a:srgbClr>
            </a:solidFill>
            <a:ln w="9525" cap="flat" cmpd="sng">
              <a:solidFill>
                <a:srgbClr val="CFD7E7">
                  <a:alpha val="898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g1f6ac97477a_0_51"/>
            <p:cNvSpPr txBox="1"/>
            <p:nvPr/>
          </p:nvSpPr>
          <p:spPr>
            <a:xfrm>
              <a:off x="2497116" y="3219704"/>
              <a:ext cx="4401000" cy="70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26650" rIns="53325" bIns="26650" anchor="ctr" anchorCtr="0">
              <a:noAutofit/>
            </a:bodyPr>
            <a:lstStyle/>
            <a:p>
              <a:pPr marL="114300" marR="0" lvl="1" indent="-1143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algun Gothic"/>
                <a:buChar char="•"/>
              </a:pPr>
              <a:r>
                <a:rPr lang="ko-KR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생산 라인의 변화나 새로운 제품 도입에 빠르게 대응 가능 </a:t>
              </a:r>
              <a:endPara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8" name="Google Shape;168;g1f6ac97477a_0_51"/>
            <p:cNvSpPr/>
            <p:nvPr/>
          </p:nvSpPr>
          <p:spPr>
            <a:xfrm>
              <a:off x="0" y="3083669"/>
              <a:ext cx="2497200" cy="9783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2D5C97"/>
                </a:gs>
                <a:gs pos="80000">
                  <a:srgbClr val="3C7AC5"/>
                </a:gs>
                <a:gs pos="100000">
                  <a:srgbClr val="397BC9"/>
                </a:gs>
              </a:gsLst>
              <a:lin ang="16200038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g1f6ac97477a_0_51"/>
            <p:cNvSpPr txBox="1"/>
            <p:nvPr/>
          </p:nvSpPr>
          <p:spPr>
            <a:xfrm>
              <a:off x="47756" y="3131425"/>
              <a:ext cx="2401500" cy="88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750" tIns="32375" rIns="64750" bIns="3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595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Malgun Gothic"/>
                <a:buNone/>
              </a:pPr>
              <a:r>
                <a:rPr lang="ko-KR" sz="1700" b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적응성</a:t>
              </a:r>
              <a:endParaRPr sz="17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70" name="Google Shape;170;g1f6ac97477a_0_51"/>
          <p:cNvSpPr txBox="1"/>
          <p:nvPr/>
        </p:nvSpPr>
        <p:spPr>
          <a:xfrm>
            <a:off x="7164288" y="6546830"/>
            <a:ext cx="1728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MINHEEBLOG</a:t>
            </a:r>
            <a:endParaRPr sz="1600">
              <a:solidFill>
                <a:srgbClr val="BFBFB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f6ac97477a_0_102"/>
          <p:cNvSpPr/>
          <p:nvPr/>
        </p:nvSpPr>
        <p:spPr>
          <a:xfrm>
            <a:off x="251520" y="620688"/>
            <a:ext cx="8640900" cy="5976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7" name="Google Shape;177;g1f6ac97477a_0_102"/>
          <p:cNvSpPr/>
          <p:nvPr/>
        </p:nvSpPr>
        <p:spPr>
          <a:xfrm>
            <a:off x="4067944" y="74100"/>
            <a:ext cx="936000" cy="93600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8" name="Google Shape;178;g1f6ac97477a_0_102"/>
          <p:cNvSpPr txBox="1"/>
          <p:nvPr/>
        </p:nvSpPr>
        <p:spPr>
          <a:xfrm>
            <a:off x="3995936" y="479095"/>
            <a:ext cx="108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1f6ac97477a_0_102"/>
          <p:cNvSpPr txBox="1"/>
          <p:nvPr/>
        </p:nvSpPr>
        <p:spPr>
          <a:xfrm>
            <a:off x="539552" y="1484784"/>
            <a:ext cx="6768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3)  모델 개요</a:t>
            </a:r>
            <a:endParaRPr/>
          </a:p>
        </p:txBody>
      </p:sp>
      <p:sp>
        <p:nvSpPr>
          <p:cNvPr id="180" name="Google Shape;180;g1f6ac97477a_0_102"/>
          <p:cNvSpPr txBox="1"/>
          <p:nvPr/>
        </p:nvSpPr>
        <p:spPr>
          <a:xfrm>
            <a:off x="7164288" y="6546830"/>
            <a:ext cx="1728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MINHEEBLOG</a:t>
            </a:r>
            <a:endParaRPr sz="1600">
              <a:solidFill>
                <a:srgbClr val="BFBFB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1" name="Google Shape;181;g1f6ac97477a_0_102"/>
          <p:cNvSpPr/>
          <p:nvPr/>
        </p:nvSpPr>
        <p:spPr>
          <a:xfrm>
            <a:off x="755576" y="5113969"/>
            <a:ext cx="1296000" cy="432000"/>
          </a:xfrm>
          <a:prstGeom prst="roundRect">
            <a:avLst>
              <a:gd name="adj" fmla="val 16667"/>
            </a:avLst>
          </a:prstGeom>
          <a:solidFill>
            <a:srgbClr val="4A86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모델설명</a:t>
            </a:r>
            <a:endParaRPr sz="18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2" name="Google Shape;182;g1f6ac97477a_0_102"/>
          <p:cNvSpPr/>
          <p:nvPr/>
        </p:nvSpPr>
        <p:spPr>
          <a:xfrm>
            <a:off x="755576" y="2119944"/>
            <a:ext cx="1296000" cy="432000"/>
          </a:xfrm>
          <a:prstGeom prst="roundRect">
            <a:avLst>
              <a:gd name="adj" fmla="val 16667"/>
            </a:avLst>
          </a:prstGeom>
          <a:solidFill>
            <a:srgbClr val="4A86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문제정의</a:t>
            </a:r>
            <a:endParaRPr sz="18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3" name="Google Shape;183;g1f6ac97477a_0_102"/>
          <p:cNvSpPr/>
          <p:nvPr/>
        </p:nvSpPr>
        <p:spPr>
          <a:xfrm rot="5400000">
            <a:off x="4046350" y="690750"/>
            <a:ext cx="2288400" cy="62781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FD7E7">
              <a:alpha val="89800"/>
            </a:srgbClr>
          </a:solidFill>
          <a:ln w="9525" cap="flat" cmpd="sng">
            <a:solidFill>
              <a:srgbClr val="CFD7E7">
                <a:alpha val="898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g1f6ac97477a_0_102"/>
          <p:cNvSpPr/>
          <p:nvPr/>
        </p:nvSpPr>
        <p:spPr>
          <a:xfrm rot="5400000">
            <a:off x="4954750" y="-803100"/>
            <a:ext cx="471600" cy="62781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FD7E7">
              <a:alpha val="89800"/>
            </a:srgbClr>
          </a:solidFill>
          <a:ln w="9525" cap="flat" cmpd="sng">
            <a:solidFill>
              <a:srgbClr val="CFD7E7">
                <a:alpha val="898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g1f6ac97477a_0_102"/>
          <p:cNvSpPr/>
          <p:nvPr/>
        </p:nvSpPr>
        <p:spPr>
          <a:xfrm>
            <a:off x="755576" y="2685594"/>
            <a:ext cx="1296000" cy="432000"/>
          </a:xfrm>
          <a:prstGeom prst="roundRect">
            <a:avLst>
              <a:gd name="adj" fmla="val 16667"/>
            </a:avLst>
          </a:prstGeom>
          <a:solidFill>
            <a:srgbClr val="4A86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변수설명</a:t>
            </a:r>
            <a:endParaRPr sz="18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6" name="Google Shape;186;g1f6ac97477a_0_102"/>
          <p:cNvSpPr txBox="1"/>
          <p:nvPr/>
        </p:nvSpPr>
        <p:spPr>
          <a:xfrm>
            <a:off x="2123526" y="2166600"/>
            <a:ext cx="6768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공장 제품 데이터를 기반으로 품질 상태를 분류하는 AI모델 개발</a:t>
            </a:r>
            <a:endParaRPr sz="1200" b="1"/>
          </a:p>
        </p:txBody>
      </p:sp>
      <p:sp>
        <p:nvSpPr>
          <p:cNvPr id="187" name="Google Shape;187;g1f6ac97477a_0_102"/>
          <p:cNvSpPr txBox="1"/>
          <p:nvPr/>
        </p:nvSpPr>
        <p:spPr>
          <a:xfrm>
            <a:off x="2130250" y="2730250"/>
            <a:ext cx="6120600" cy="20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정형데이터인 독립변수 X1 ~ X3326을 통해 종속변수 Y_Quality를 예측한 후, 그에 따라 제품 품질 상태인 Y_Class를 판별하였다. Y_Quality &lt; 0.52507 라면 Y_Class는 0으로, 0.5349&lt;Y_Quality의 경우엔 Y_Class는 2로, 두 값 사이에 있다면 1로 분류하였다.</a:t>
            </a:r>
            <a:endParaRPr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따라서 Regression 모델이 0~1 사이의 Y_Quality 값을 얼마나 정확하게 예측하는지를 모델의 성능으로 판단하였다.</a:t>
            </a:r>
            <a:endParaRPr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범주형 변수인 PRODUCT_CODE와 LINE을 기준으로 생성라인을</a:t>
            </a:r>
            <a:endParaRPr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구분하여 데이터 분석을 실시했다. </a:t>
            </a:r>
            <a:endParaRPr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8" name="Google Shape;188;g1f6ac97477a_0_102"/>
          <p:cNvSpPr/>
          <p:nvPr/>
        </p:nvSpPr>
        <p:spPr>
          <a:xfrm rot="5400000">
            <a:off x="4652125" y="2514050"/>
            <a:ext cx="990000" cy="61911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FD7E7">
              <a:alpha val="89800"/>
            </a:srgbClr>
          </a:solidFill>
          <a:ln w="9525" cap="flat" cmpd="sng">
            <a:solidFill>
              <a:srgbClr val="CFD7E7">
                <a:alpha val="898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g1f6ac97477a_0_102"/>
          <p:cNvSpPr txBox="1"/>
          <p:nvPr/>
        </p:nvSpPr>
        <p:spPr>
          <a:xfrm>
            <a:off x="2086825" y="5107754"/>
            <a:ext cx="61206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트리 기반 모델인 Catboost, LGBM 등과 딥러닝 기반 모델인 TabNet, 그 밖에 Elastic Net 회귀 등을 시도하여 성능이 우수한 모델을 선정한 뒤 해당 모델을 단독 사용하거나 복수 선정하여 앙상블 하기로 했다.</a:t>
            </a:r>
            <a:endParaRPr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162a82117f_0_5"/>
          <p:cNvSpPr txBox="1"/>
          <p:nvPr/>
        </p:nvSpPr>
        <p:spPr>
          <a:xfrm>
            <a:off x="-71047" y="201355"/>
            <a:ext cx="4176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LGAimers 스마트 공장 제품 품질 상태 분류 AI</a:t>
            </a:r>
            <a:endParaRPr sz="24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6" name="Google Shape;196;g2162a82117f_0_5"/>
          <p:cNvSpPr txBox="1"/>
          <p:nvPr/>
        </p:nvSpPr>
        <p:spPr>
          <a:xfrm>
            <a:off x="3297628" y="2554691"/>
            <a:ext cx="8496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ko-KR" sz="5400">
                <a:solidFill>
                  <a:schemeClr val="lt1"/>
                </a:solidFill>
              </a:rPr>
              <a:t>2</a:t>
            </a:r>
            <a:r>
              <a:rPr lang="ko-KR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5400">
                <a:solidFill>
                  <a:schemeClr val="lt1"/>
                </a:solidFill>
              </a:rPr>
              <a:t> 데이터 분석</a:t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7" name="Google Shape;197;g2162a82117f_0_5"/>
          <p:cNvCxnSpPr/>
          <p:nvPr/>
        </p:nvCxnSpPr>
        <p:spPr>
          <a:xfrm rot="10800000" flipH="1">
            <a:off x="2901925" y="3644225"/>
            <a:ext cx="6242100" cy="276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8" name="Google Shape;198;g2162a82117f_0_5"/>
          <p:cNvSpPr txBox="1"/>
          <p:nvPr/>
        </p:nvSpPr>
        <p:spPr>
          <a:xfrm>
            <a:off x="5126175" y="3968375"/>
            <a:ext cx="3562800" cy="24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변수 제거</a:t>
            </a:r>
            <a:endParaRPr sz="18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파생 변수 생성</a:t>
            </a:r>
            <a:endParaRPr sz="18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이상치 제거 </a:t>
            </a:r>
            <a:endParaRPr sz="18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생성 라인 구분</a:t>
            </a:r>
            <a:endParaRPr sz="18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결측치 처리</a:t>
            </a:r>
            <a:endParaRPr sz="18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ko-KR" sz="18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18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162a82117f_0_13"/>
          <p:cNvSpPr/>
          <p:nvPr/>
        </p:nvSpPr>
        <p:spPr>
          <a:xfrm>
            <a:off x="251520" y="620688"/>
            <a:ext cx="8640900" cy="5976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5" name="Google Shape;205;g2162a82117f_0_13"/>
          <p:cNvSpPr/>
          <p:nvPr/>
        </p:nvSpPr>
        <p:spPr>
          <a:xfrm>
            <a:off x="575575" y="2003825"/>
            <a:ext cx="8280900" cy="11778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6" name="Google Shape;206;g2162a82117f_0_13"/>
          <p:cNvSpPr/>
          <p:nvPr/>
        </p:nvSpPr>
        <p:spPr>
          <a:xfrm>
            <a:off x="4067944" y="74100"/>
            <a:ext cx="936000" cy="93600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7" name="Google Shape;207;g2162a82117f_0_13"/>
          <p:cNvSpPr txBox="1"/>
          <p:nvPr/>
        </p:nvSpPr>
        <p:spPr>
          <a:xfrm>
            <a:off x="3995936" y="479095"/>
            <a:ext cx="108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ko-KR" sz="2400">
                <a:solidFill>
                  <a:schemeClr val="lt1"/>
                </a:solidFill>
              </a:rPr>
              <a:t>2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2162a82117f_0_13"/>
          <p:cNvSpPr txBox="1"/>
          <p:nvPr/>
        </p:nvSpPr>
        <p:spPr>
          <a:xfrm>
            <a:off x="539549" y="1556800"/>
            <a:ext cx="4606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1) 변수 제거</a:t>
            </a:r>
            <a:endParaRPr sz="18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9" name="Google Shape;209;g2162a82117f_0_13"/>
          <p:cNvSpPr txBox="1"/>
          <p:nvPr/>
        </p:nvSpPr>
        <p:spPr>
          <a:xfrm>
            <a:off x="755576" y="1844824"/>
            <a:ext cx="7920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0" name="Google Shape;210;g2162a82117f_0_13"/>
          <p:cNvSpPr txBox="1"/>
          <p:nvPr/>
        </p:nvSpPr>
        <p:spPr>
          <a:xfrm>
            <a:off x="756299" y="2123550"/>
            <a:ext cx="792090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65112" lvl="0" indent="-265112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결과에 영향을 미치지 않는다고 판단되는 변수인 </a:t>
            </a:r>
            <a:r>
              <a:rPr lang="ko-KR" sz="16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PRODUCT_ID를</a:t>
            </a:r>
            <a:r>
              <a:rPr 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제거하였다. </a:t>
            </a:r>
            <a:endParaRPr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또한 </a:t>
            </a:r>
            <a:r>
              <a:rPr lang="ko-KR" sz="16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min값과</a:t>
            </a:r>
            <a:r>
              <a:rPr 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6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max값이</a:t>
            </a:r>
            <a:r>
              <a:rPr 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같은 변수 또한 영향을 미치지 않는다고 판단해 제거하였다.</a:t>
            </a:r>
            <a:endParaRPr sz="16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1" name="Google Shape;211;g2162a82117f_0_13"/>
          <p:cNvSpPr txBox="1"/>
          <p:nvPr/>
        </p:nvSpPr>
        <p:spPr>
          <a:xfrm>
            <a:off x="827584" y="4797152"/>
            <a:ext cx="1872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우클릭 그림바꾸기로 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그림바꿔주세요 </a:t>
            </a:r>
            <a:endParaRPr/>
          </a:p>
        </p:txBody>
      </p:sp>
      <p:sp>
        <p:nvSpPr>
          <p:cNvPr id="212" name="Google Shape;212;g2162a82117f_0_13"/>
          <p:cNvSpPr txBox="1"/>
          <p:nvPr/>
        </p:nvSpPr>
        <p:spPr>
          <a:xfrm>
            <a:off x="3563888" y="4797152"/>
            <a:ext cx="1872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우클릭</a:t>
            </a:r>
            <a:r>
              <a:rPr lang="ko-KR" sz="14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400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그림바꾸기로</a:t>
            </a:r>
            <a:r>
              <a:rPr lang="ko-KR" sz="14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14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그림바꿔주세요</a:t>
            </a:r>
            <a:r>
              <a:rPr lang="ko-KR" sz="14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dirty="0"/>
          </a:p>
        </p:txBody>
      </p:sp>
      <p:sp>
        <p:nvSpPr>
          <p:cNvPr id="213" name="Google Shape;213;g2162a82117f_0_13"/>
          <p:cNvSpPr txBox="1"/>
          <p:nvPr/>
        </p:nvSpPr>
        <p:spPr>
          <a:xfrm>
            <a:off x="6516216" y="4797152"/>
            <a:ext cx="1872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우클릭 그림바꾸기로 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그림바꿔주요 </a:t>
            </a:r>
            <a:endParaRPr/>
          </a:p>
        </p:txBody>
      </p:sp>
      <p:pic>
        <p:nvPicPr>
          <p:cNvPr id="214" name="Google Shape;214;g2162a82117f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2125" y="4958344"/>
            <a:ext cx="6635849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g2162a82117f_0_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2275" y="3678363"/>
            <a:ext cx="5335558" cy="62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162a82117f_0_30"/>
          <p:cNvSpPr/>
          <p:nvPr/>
        </p:nvSpPr>
        <p:spPr>
          <a:xfrm>
            <a:off x="251520" y="620688"/>
            <a:ext cx="8640900" cy="5976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2" name="Google Shape;222;g2162a82117f_0_30"/>
          <p:cNvSpPr/>
          <p:nvPr/>
        </p:nvSpPr>
        <p:spPr>
          <a:xfrm>
            <a:off x="575575" y="1982824"/>
            <a:ext cx="8280900" cy="12258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3" name="Google Shape;223;g2162a82117f_0_30"/>
          <p:cNvSpPr/>
          <p:nvPr/>
        </p:nvSpPr>
        <p:spPr>
          <a:xfrm>
            <a:off x="4067944" y="74100"/>
            <a:ext cx="936000" cy="93600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4" name="Google Shape;224;g2162a82117f_0_30"/>
          <p:cNvSpPr txBox="1"/>
          <p:nvPr/>
        </p:nvSpPr>
        <p:spPr>
          <a:xfrm>
            <a:off x="3995936" y="479095"/>
            <a:ext cx="108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ko-KR" sz="2400">
                <a:solidFill>
                  <a:schemeClr val="lt1"/>
                </a:solidFill>
              </a:rPr>
              <a:t>2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2162a82117f_0_30"/>
          <p:cNvSpPr txBox="1"/>
          <p:nvPr/>
        </p:nvSpPr>
        <p:spPr>
          <a:xfrm>
            <a:off x="539549" y="1556800"/>
            <a:ext cx="4606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2) 파생 변수 생성</a:t>
            </a:r>
            <a:endParaRPr sz="18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6" name="Google Shape;226;g2162a82117f_0_30"/>
          <p:cNvSpPr txBox="1"/>
          <p:nvPr/>
        </p:nvSpPr>
        <p:spPr>
          <a:xfrm>
            <a:off x="755576" y="1844824"/>
            <a:ext cx="7920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7" name="Google Shape;227;g2162a82117f_0_30"/>
          <p:cNvSpPr txBox="1"/>
          <p:nvPr/>
        </p:nvSpPr>
        <p:spPr>
          <a:xfrm>
            <a:off x="613493" y="2006675"/>
            <a:ext cx="80178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65112" marR="0" lvl="0" indent="-265112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독립변수에 대한 정보가 없지만 편차가 매우 커 변수의 분포를 통해 변수의 성격을 대략적으로 파악할 수 있었다. 비슷한 분포를 갖는다고 판단되는 변수들끼리 더해 새로운 변수를 만들었다. 더한 변수와 평균 변수를 사용한 결과는 같았다.</a:t>
            </a:r>
            <a:endParaRPr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8" name="Google Shape;228;g2162a82117f_0_30"/>
          <p:cNvSpPr txBox="1"/>
          <p:nvPr/>
        </p:nvSpPr>
        <p:spPr>
          <a:xfrm>
            <a:off x="827584" y="4797152"/>
            <a:ext cx="1872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우클릭 그림바꾸기로 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그림바꿔주세요 </a:t>
            </a:r>
            <a:endParaRPr/>
          </a:p>
        </p:txBody>
      </p:sp>
      <p:sp>
        <p:nvSpPr>
          <p:cNvPr id="229" name="Google Shape;229;g2162a82117f_0_30"/>
          <p:cNvSpPr txBox="1"/>
          <p:nvPr/>
        </p:nvSpPr>
        <p:spPr>
          <a:xfrm>
            <a:off x="3563888" y="4797152"/>
            <a:ext cx="1872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우클릭 그림바꾸기로 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그림바꿔주세요 </a:t>
            </a:r>
            <a:endParaRPr/>
          </a:p>
        </p:txBody>
      </p:sp>
      <p:sp>
        <p:nvSpPr>
          <p:cNvPr id="230" name="Google Shape;230;g2162a82117f_0_30"/>
          <p:cNvSpPr txBox="1"/>
          <p:nvPr/>
        </p:nvSpPr>
        <p:spPr>
          <a:xfrm>
            <a:off x="6516216" y="4797152"/>
            <a:ext cx="1872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우클릭 그림바꾸기로 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그림바꿔주요 </a:t>
            </a:r>
            <a:endParaRPr/>
          </a:p>
        </p:txBody>
      </p:sp>
      <p:sp>
        <p:nvSpPr>
          <p:cNvPr id="231" name="Google Shape;231;g2162a82117f_0_30"/>
          <p:cNvSpPr/>
          <p:nvPr/>
        </p:nvSpPr>
        <p:spPr>
          <a:xfrm>
            <a:off x="3021650" y="5219600"/>
            <a:ext cx="5529900" cy="1225800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ko-KR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함수를 사용하여 인접한 변수 X1~X10, X11~X13, X20~X22, X387~X389, X3007~X3060 총 73개를 제거하고 새로운 변수 X3327~X3331을 생성하였다.</a:t>
            </a:r>
            <a:endParaRPr sz="16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2" name="Google Shape;232;g2162a82117f_0_30"/>
          <p:cNvSpPr/>
          <p:nvPr/>
        </p:nvSpPr>
        <p:spPr>
          <a:xfrm>
            <a:off x="1483325" y="5454499"/>
            <a:ext cx="1296000" cy="756000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33" name="Google Shape;233;g2162a82117f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3613" y="3290188"/>
            <a:ext cx="3952875" cy="184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162a82117f_0_47"/>
          <p:cNvSpPr/>
          <p:nvPr/>
        </p:nvSpPr>
        <p:spPr>
          <a:xfrm>
            <a:off x="251520" y="620688"/>
            <a:ext cx="8640900" cy="5976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0" name="Google Shape;240;g2162a82117f_0_47"/>
          <p:cNvSpPr/>
          <p:nvPr/>
        </p:nvSpPr>
        <p:spPr>
          <a:xfrm>
            <a:off x="575575" y="1958475"/>
            <a:ext cx="8280900" cy="10314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1" name="Google Shape;241;g2162a82117f_0_47"/>
          <p:cNvSpPr/>
          <p:nvPr/>
        </p:nvSpPr>
        <p:spPr>
          <a:xfrm>
            <a:off x="4067944" y="74100"/>
            <a:ext cx="936000" cy="93600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2" name="Google Shape;242;g2162a82117f_0_47"/>
          <p:cNvSpPr txBox="1"/>
          <p:nvPr/>
        </p:nvSpPr>
        <p:spPr>
          <a:xfrm>
            <a:off x="3995936" y="479095"/>
            <a:ext cx="108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ko-KR" sz="2400">
                <a:solidFill>
                  <a:schemeClr val="lt1"/>
                </a:solidFill>
              </a:rPr>
              <a:t>2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2162a82117f_0_47"/>
          <p:cNvSpPr txBox="1"/>
          <p:nvPr/>
        </p:nvSpPr>
        <p:spPr>
          <a:xfrm>
            <a:off x="539549" y="1328200"/>
            <a:ext cx="4606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3) Outlier 제거</a:t>
            </a:r>
            <a:endParaRPr sz="18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4" name="Google Shape;244;g2162a82117f_0_47"/>
          <p:cNvSpPr txBox="1"/>
          <p:nvPr/>
        </p:nvSpPr>
        <p:spPr>
          <a:xfrm>
            <a:off x="755576" y="1844824"/>
            <a:ext cx="7920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5" name="Google Shape;245;g2162a82117f_0_47"/>
          <p:cNvSpPr txBox="1"/>
          <p:nvPr/>
        </p:nvSpPr>
        <p:spPr>
          <a:xfrm>
            <a:off x="676889" y="1967488"/>
            <a:ext cx="8730174" cy="103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특정 범위*</a:t>
            </a:r>
            <a:r>
              <a:rPr lang="ko-KR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</a:t>
            </a:r>
            <a:r>
              <a:rPr 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벗어나면 이상치로 판단하여 해당 값을 0으로 대체하는 함수를 적용했다.</a:t>
            </a:r>
            <a:endParaRPr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평균값, 중앙값 등 다양한 대체 값을 적용했으나 0으로 대체 시 가장 좋은 성능을 보였다.</a:t>
            </a:r>
            <a:endParaRPr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*범위 : </a:t>
            </a:r>
            <a:r>
              <a:rPr lang="ko-KR" sz="1200" b="1" dirty="0">
                <a:solidFill>
                  <a:schemeClr val="dk1"/>
                </a:solidFill>
                <a:highlight>
                  <a:srgbClr val="FFFF00"/>
                </a:highlight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ko-KR" sz="1200" b="1" dirty="0" err="1">
                <a:solidFill>
                  <a:schemeClr val="dk1"/>
                </a:solidFill>
                <a:highlight>
                  <a:srgbClr val="FFFF00"/>
                </a:highlight>
                <a:latin typeface="Malgun Gothic"/>
                <a:ea typeface="Malgun Gothic"/>
                <a:cs typeface="Malgun Gothic"/>
                <a:sym typeface="Malgun Gothic"/>
              </a:rPr>
              <a:t>mean</a:t>
            </a:r>
            <a:r>
              <a:rPr lang="ko-KR" sz="1200" b="1" dirty="0">
                <a:solidFill>
                  <a:schemeClr val="dk1"/>
                </a:solidFill>
                <a:highlight>
                  <a:srgbClr val="FFFF00"/>
                </a:highlight>
                <a:latin typeface="Malgun Gothic"/>
                <a:ea typeface="Malgun Gothic"/>
                <a:cs typeface="Malgun Gothic"/>
                <a:sym typeface="Malgun Gothic"/>
              </a:rPr>
              <a:t> - 3*</a:t>
            </a:r>
            <a:r>
              <a:rPr lang="ko-KR" sz="1200" b="1" dirty="0" err="1">
                <a:solidFill>
                  <a:schemeClr val="dk1"/>
                </a:solidFill>
                <a:highlight>
                  <a:srgbClr val="FFFF00"/>
                </a:highlight>
                <a:latin typeface="Malgun Gothic"/>
                <a:ea typeface="Malgun Gothic"/>
                <a:cs typeface="Malgun Gothic"/>
                <a:sym typeface="Malgun Gothic"/>
              </a:rPr>
              <a:t>std</a:t>
            </a:r>
            <a:r>
              <a:rPr lang="ko-KR" sz="1200" b="1" dirty="0">
                <a:solidFill>
                  <a:schemeClr val="dk1"/>
                </a:solidFill>
                <a:highlight>
                  <a:srgbClr val="FFFF00"/>
                </a:highlight>
                <a:latin typeface="Malgun Gothic"/>
                <a:ea typeface="Malgun Gothic"/>
                <a:cs typeface="Malgun Gothic"/>
                <a:sym typeface="Malgun Gothic"/>
              </a:rPr>
              <a:t> ~ </a:t>
            </a:r>
            <a:r>
              <a:rPr lang="ko-KR" sz="1200" b="1" dirty="0" err="1">
                <a:solidFill>
                  <a:schemeClr val="dk1"/>
                </a:solidFill>
                <a:highlight>
                  <a:srgbClr val="FFFF00"/>
                </a:highlight>
                <a:latin typeface="Malgun Gothic"/>
                <a:ea typeface="Malgun Gothic"/>
                <a:cs typeface="Malgun Gothic"/>
                <a:sym typeface="Malgun Gothic"/>
              </a:rPr>
              <a:t>mean</a:t>
            </a:r>
            <a:r>
              <a:rPr lang="ko-KR" sz="1200" b="1" dirty="0">
                <a:solidFill>
                  <a:schemeClr val="dk1"/>
                </a:solidFill>
                <a:highlight>
                  <a:srgbClr val="FFFF00"/>
                </a:highlight>
                <a:latin typeface="Malgun Gothic"/>
                <a:ea typeface="Malgun Gothic"/>
                <a:cs typeface="Malgun Gothic"/>
                <a:sym typeface="Malgun Gothic"/>
              </a:rPr>
              <a:t> + 3*</a:t>
            </a:r>
            <a:r>
              <a:rPr lang="ko-KR" sz="1200" b="1" dirty="0" err="1">
                <a:solidFill>
                  <a:schemeClr val="dk1"/>
                </a:solidFill>
                <a:highlight>
                  <a:srgbClr val="FFFF00"/>
                </a:highlight>
                <a:latin typeface="Malgun Gothic"/>
                <a:ea typeface="Malgun Gothic"/>
                <a:cs typeface="Malgun Gothic"/>
                <a:sym typeface="Malgun Gothic"/>
              </a:rPr>
              <a:t>std</a:t>
            </a:r>
            <a:r>
              <a:rPr lang="ko-KR" sz="1200" b="1" dirty="0">
                <a:solidFill>
                  <a:schemeClr val="dk1"/>
                </a:solidFill>
                <a:highlight>
                  <a:srgbClr val="FFFF00"/>
                </a:highlight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endParaRPr sz="1200" b="1" dirty="0">
              <a:solidFill>
                <a:schemeClr val="dk1"/>
              </a:solidFill>
              <a:highlight>
                <a:srgbClr val="FFFF00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6" name="Google Shape;246;g2162a82117f_0_47"/>
          <p:cNvSpPr txBox="1"/>
          <p:nvPr/>
        </p:nvSpPr>
        <p:spPr>
          <a:xfrm>
            <a:off x="827584" y="4797152"/>
            <a:ext cx="1872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우클릭 그림바꾸기로 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그림바꿔주세요 </a:t>
            </a:r>
            <a:endParaRPr/>
          </a:p>
        </p:txBody>
      </p:sp>
      <p:sp>
        <p:nvSpPr>
          <p:cNvPr id="247" name="Google Shape;247;g2162a82117f_0_47"/>
          <p:cNvSpPr txBox="1"/>
          <p:nvPr/>
        </p:nvSpPr>
        <p:spPr>
          <a:xfrm>
            <a:off x="3563888" y="4797152"/>
            <a:ext cx="1872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우클릭 그림바꾸기로 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그림바꿔주세요 </a:t>
            </a:r>
            <a:endParaRPr/>
          </a:p>
        </p:txBody>
      </p:sp>
      <p:sp>
        <p:nvSpPr>
          <p:cNvPr id="248" name="Google Shape;248;g2162a82117f_0_47"/>
          <p:cNvSpPr txBox="1"/>
          <p:nvPr/>
        </p:nvSpPr>
        <p:spPr>
          <a:xfrm>
            <a:off x="6516216" y="4797152"/>
            <a:ext cx="1872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우클릭 그림바꾸기로 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그림바꿔주요 </a:t>
            </a:r>
            <a:endParaRPr/>
          </a:p>
        </p:txBody>
      </p:sp>
      <p:pic>
        <p:nvPicPr>
          <p:cNvPr id="249" name="Google Shape;249;g2162a82117f_0_47"/>
          <p:cNvPicPr preferRelativeResize="0"/>
          <p:nvPr/>
        </p:nvPicPr>
        <p:blipFill rotWithShape="1">
          <a:blip r:embed="rId3">
            <a:alphaModFix/>
          </a:blip>
          <a:srcRect l="-2460" r="2460"/>
          <a:stretch/>
        </p:blipFill>
        <p:spPr>
          <a:xfrm>
            <a:off x="2616650" y="3334039"/>
            <a:ext cx="3937650" cy="164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g2162a82117f_0_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9548" y="5243572"/>
            <a:ext cx="5952960" cy="93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162a82117f_0_64"/>
          <p:cNvSpPr/>
          <p:nvPr/>
        </p:nvSpPr>
        <p:spPr>
          <a:xfrm>
            <a:off x="251520" y="620688"/>
            <a:ext cx="8640900" cy="5976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7" name="Google Shape;257;g2162a82117f_0_64"/>
          <p:cNvSpPr/>
          <p:nvPr/>
        </p:nvSpPr>
        <p:spPr>
          <a:xfrm>
            <a:off x="575575" y="1897051"/>
            <a:ext cx="8280900" cy="8640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8" name="Google Shape;258;g2162a82117f_0_64"/>
          <p:cNvSpPr/>
          <p:nvPr/>
        </p:nvSpPr>
        <p:spPr>
          <a:xfrm>
            <a:off x="4067944" y="74100"/>
            <a:ext cx="936000" cy="93600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9" name="Google Shape;259;g2162a82117f_0_64"/>
          <p:cNvSpPr txBox="1"/>
          <p:nvPr/>
        </p:nvSpPr>
        <p:spPr>
          <a:xfrm>
            <a:off x="3995936" y="479095"/>
            <a:ext cx="108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ko-KR" sz="2400">
                <a:solidFill>
                  <a:schemeClr val="lt1"/>
                </a:solidFill>
              </a:rPr>
              <a:t>2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2162a82117f_0_64"/>
          <p:cNvSpPr txBox="1"/>
          <p:nvPr/>
        </p:nvSpPr>
        <p:spPr>
          <a:xfrm>
            <a:off x="469136" y="1259076"/>
            <a:ext cx="4606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4) 공정 라인 구분 </a:t>
            </a:r>
            <a:endParaRPr sz="18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1" name="Google Shape;261;g2162a82117f_0_64"/>
          <p:cNvSpPr txBox="1"/>
          <p:nvPr/>
        </p:nvSpPr>
        <p:spPr>
          <a:xfrm>
            <a:off x="755576" y="1790972"/>
            <a:ext cx="7920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2" name="Google Shape;262;g2162a82117f_0_64"/>
          <p:cNvSpPr txBox="1"/>
          <p:nvPr/>
        </p:nvSpPr>
        <p:spPr>
          <a:xfrm>
            <a:off x="611550" y="2019198"/>
            <a:ext cx="79209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공정 라인 별로 데이터 분류하여 변수 간의 불균형을 최소화했다. 1차적으로 PRODUCT _</a:t>
            </a:r>
            <a:r>
              <a:rPr lang="ko-KR" sz="16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CODE를</a:t>
            </a:r>
            <a:r>
              <a:rPr 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바탕으로 구분한 뒤 LINE 변수로 세분화했다.</a:t>
            </a:r>
            <a:endParaRPr sz="12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3" name="Google Shape;263;g2162a82117f_0_64"/>
          <p:cNvSpPr txBox="1"/>
          <p:nvPr/>
        </p:nvSpPr>
        <p:spPr>
          <a:xfrm>
            <a:off x="827584" y="4761527"/>
            <a:ext cx="1872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우클릭 그림바꾸기로 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그림바꿔주세요 </a:t>
            </a:r>
            <a:endParaRPr/>
          </a:p>
        </p:txBody>
      </p:sp>
      <p:sp>
        <p:nvSpPr>
          <p:cNvPr id="264" name="Google Shape;264;g2162a82117f_0_64"/>
          <p:cNvSpPr txBox="1"/>
          <p:nvPr/>
        </p:nvSpPr>
        <p:spPr>
          <a:xfrm>
            <a:off x="3563888" y="4761527"/>
            <a:ext cx="1872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우클릭 그림바꾸기로 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그림바꿔주세요 </a:t>
            </a:r>
            <a:endParaRPr/>
          </a:p>
        </p:txBody>
      </p:sp>
      <p:sp>
        <p:nvSpPr>
          <p:cNvPr id="265" name="Google Shape;265;g2162a82117f_0_64"/>
          <p:cNvSpPr txBox="1"/>
          <p:nvPr/>
        </p:nvSpPr>
        <p:spPr>
          <a:xfrm>
            <a:off x="6544516" y="4797152"/>
            <a:ext cx="1872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우클릭 그림바꾸기로 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그림바꿔주요 </a:t>
            </a:r>
            <a:endParaRPr/>
          </a:p>
        </p:txBody>
      </p:sp>
      <p:sp>
        <p:nvSpPr>
          <p:cNvPr id="266" name="Google Shape;266;g2162a82117f_0_64"/>
          <p:cNvSpPr txBox="1"/>
          <p:nvPr/>
        </p:nvSpPr>
        <p:spPr>
          <a:xfrm>
            <a:off x="7164288" y="6546830"/>
            <a:ext cx="1728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MINHEEBLOG</a:t>
            </a:r>
            <a:endParaRPr sz="1600">
              <a:solidFill>
                <a:srgbClr val="BFBFB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7" name="Google Shape;267;g2162a82117f_0_64"/>
          <p:cNvSpPr/>
          <p:nvPr/>
        </p:nvSpPr>
        <p:spPr>
          <a:xfrm>
            <a:off x="722479" y="5328040"/>
            <a:ext cx="1296000" cy="864000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8" name="Google Shape;268;g2162a82117f_0_64"/>
          <p:cNvSpPr/>
          <p:nvPr/>
        </p:nvSpPr>
        <p:spPr>
          <a:xfrm>
            <a:off x="2208475" y="5245643"/>
            <a:ext cx="5761800" cy="990600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endParaRPr sz="16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모든 공정 라인을 통합했을 때보다 </a:t>
            </a:r>
            <a:r>
              <a:rPr lang="ko-KR" sz="16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결측치가</a:t>
            </a:r>
            <a:r>
              <a:rPr 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훨씬 적어 정보 손실을 최소화할 수 있었다.</a:t>
            </a:r>
            <a:endParaRPr sz="18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endParaRPr sz="16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69" name="Google Shape;269;g2162a82117f_0_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5425" y="2916548"/>
            <a:ext cx="5953126" cy="79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g2162a82117f_0_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5425" y="3985748"/>
            <a:ext cx="5953125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26754d6aef_4_7"/>
          <p:cNvSpPr/>
          <p:nvPr/>
        </p:nvSpPr>
        <p:spPr>
          <a:xfrm>
            <a:off x="251520" y="620688"/>
            <a:ext cx="8640900" cy="5976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7" name="Google Shape;277;g226754d6aef_4_7"/>
          <p:cNvSpPr/>
          <p:nvPr/>
        </p:nvSpPr>
        <p:spPr>
          <a:xfrm>
            <a:off x="575575" y="1926100"/>
            <a:ext cx="3286200" cy="20013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8" name="Google Shape;278;g226754d6aef_4_7"/>
          <p:cNvSpPr/>
          <p:nvPr/>
        </p:nvSpPr>
        <p:spPr>
          <a:xfrm>
            <a:off x="4067944" y="74100"/>
            <a:ext cx="936000" cy="93600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9" name="Google Shape;279;g226754d6aef_4_7"/>
          <p:cNvSpPr txBox="1"/>
          <p:nvPr/>
        </p:nvSpPr>
        <p:spPr>
          <a:xfrm>
            <a:off x="3995936" y="479095"/>
            <a:ext cx="108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ko-KR" sz="2400">
                <a:solidFill>
                  <a:schemeClr val="lt1"/>
                </a:solidFill>
              </a:rPr>
              <a:t>2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226754d6aef_4_7"/>
          <p:cNvSpPr txBox="1"/>
          <p:nvPr/>
        </p:nvSpPr>
        <p:spPr>
          <a:xfrm>
            <a:off x="539549" y="1200541"/>
            <a:ext cx="4606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5) 결측치 처리 </a:t>
            </a:r>
            <a:endParaRPr sz="18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1" name="Google Shape;281;g226754d6aef_4_7"/>
          <p:cNvSpPr txBox="1"/>
          <p:nvPr/>
        </p:nvSpPr>
        <p:spPr>
          <a:xfrm>
            <a:off x="755576" y="1874099"/>
            <a:ext cx="7920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2" name="Google Shape;282;g226754d6aef_4_7"/>
          <p:cNvSpPr txBox="1"/>
          <p:nvPr/>
        </p:nvSpPr>
        <p:spPr>
          <a:xfrm>
            <a:off x="539550" y="2049400"/>
            <a:ext cx="3067500" cy="1791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2286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나머지 </a:t>
            </a:r>
            <a:r>
              <a:rPr lang="ko-KR" sz="16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결측치는</a:t>
            </a:r>
            <a:r>
              <a:rPr 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변수의</a:t>
            </a:r>
            <a:endParaRPr lang="en-US" altLang="ko-KR" sz="16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2286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평균값으로 대체하였다. </a:t>
            </a:r>
            <a:endParaRPr lang="en-US" altLang="ko-KR" sz="16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2286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ko-KR" sz="16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Test</a:t>
            </a:r>
            <a:r>
              <a:rPr 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데이터의 </a:t>
            </a:r>
            <a:r>
              <a:rPr lang="ko-KR" sz="16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결측치는</a:t>
            </a:r>
            <a:endParaRPr lang="en-US" altLang="ko-KR" sz="16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2286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ko-KR" sz="16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Train</a:t>
            </a:r>
            <a:r>
              <a:rPr 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데이터의 평균으로</a:t>
            </a:r>
            <a:endParaRPr lang="en-US" altLang="ko-KR" sz="16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2286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대체하여 Data </a:t>
            </a:r>
            <a:r>
              <a:rPr lang="ko-KR" sz="16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Leakage를</a:t>
            </a:r>
            <a:endParaRPr lang="en-US" altLang="ko-KR" sz="16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2286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피했다.</a:t>
            </a:r>
            <a:endParaRPr sz="12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3" name="Google Shape;283;g226754d6aef_4_7"/>
          <p:cNvSpPr txBox="1"/>
          <p:nvPr/>
        </p:nvSpPr>
        <p:spPr>
          <a:xfrm>
            <a:off x="827584" y="4797152"/>
            <a:ext cx="1872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우클릭 그림바꾸기로 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그림바꿔주세요 </a:t>
            </a:r>
            <a:endParaRPr/>
          </a:p>
        </p:txBody>
      </p:sp>
      <p:sp>
        <p:nvSpPr>
          <p:cNvPr id="284" name="Google Shape;284;g226754d6aef_4_7"/>
          <p:cNvSpPr txBox="1"/>
          <p:nvPr/>
        </p:nvSpPr>
        <p:spPr>
          <a:xfrm>
            <a:off x="3563888" y="4797152"/>
            <a:ext cx="1872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우클릭 그림바꾸기로 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그림바꿔주세요 </a:t>
            </a:r>
            <a:endParaRPr/>
          </a:p>
        </p:txBody>
      </p:sp>
      <p:sp>
        <p:nvSpPr>
          <p:cNvPr id="285" name="Google Shape;285;g226754d6aef_4_7"/>
          <p:cNvSpPr txBox="1"/>
          <p:nvPr/>
        </p:nvSpPr>
        <p:spPr>
          <a:xfrm>
            <a:off x="6544516" y="4797152"/>
            <a:ext cx="1872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우클릭 그림바꾸기로 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그림바꿔주요 </a:t>
            </a:r>
            <a:endParaRPr/>
          </a:p>
        </p:txBody>
      </p:sp>
      <p:sp>
        <p:nvSpPr>
          <p:cNvPr id="286" name="Google Shape;286;g226754d6aef_4_7"/>
          <p:cNvSpPr txBox="1"/>
          <p:nvPr/>
        </p:nvSpPr>
        <p:spPr>
          <a:xfrm>
            <a:off x="7164288" y="6546830"/>
            <a:ext cx="1728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MINHEEBLOG</a:t>
            </a:r>
            <a:endParaRPr sz="1600">
              <a:solidFill>
                <a:srgbClr val="BFBFB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7" name="Google Shape;287;g226754d6aef_4_7"/>
          <p:cNvSpPr/>
          <p:nvPr/>
        </p:nvSpPr>
        <p:spPr>
          <a:xfrm>
            <a:off x="755575" y="4239775"/>
            <a:ext cx="3067500" cy="1843500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추가적으로 표준화, 차원 축소를 통한 변수 제거, </a:t>
            </a:r>
            <a:endParaRPr lang="en-US" altLang="ko-KR" sz="16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k-</a:t>
            </a:r>
            <a:r>
              <a:rPr lang="ko-KR" sz="16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fold를</a:t>
            </a:r>
            <a:r>
              <a:rPr 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통한 학습 등을 시도했으나 성능이 좋지 않아 폐기하였다. </a:t>
            </a:r>
            <a:endParaRPr sz="18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88" name="Google Shape;288;g226754d6aef_4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9225" y="1969796"/>
            <a:ext cx="4318775" cy="406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"/>
          <p:cNvSpPr txBox="1"/>
          <p:nvPr/>
        </p:nvSpPr>
        <p:spPr>
          <a:xfrm>
            <a:off x="-71047" y="201355"/>
            <a:ext cx="4176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LGAimers 스마트 공장 제품 품질 상태 분류 AI</a:t>
            </a:r>
            <a:endParaRPr sz="24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5" name="Google Shape;295;p2"/>
          <p:cNvSpPr txBox="1"/>
          <p:nvPr/>
        </p:nvSpPr>
        <p:spPr>
          <a:xfrm>
            <a:off x="3297628" y="2554691"/>
            <a:ext cx="8496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 </a:t>
            </a:r>
            <a:r>
              <a:rPr lang="ko-KR" sz="5400">
                <a:solidFill>
                  <a:schemeClr val="lt1"/>
                </a:solidFill>
              </a:rPr>
              <a:t> 모델링</a:t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6" name="Google Shape;296;p2"/>
          <p:cNvCxnSpPr/>
          <p:nvPr/>
        </p:nvCxnSpPr>
        <p:spPr>
          <a:xfrm rot="10800000" flipH="1">
            <a:off x="2901925" y="3644225"/>
            <a:ext cx="6242100" cy="276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7" name="Google Shape;297;p2"/>
          <p:cNvSpPr txBox="1"/>
          <p:nvPr/>
        </p:nvSpPr>
        <p:spPr>
          <a:xfrm>
            <a:off x="5126171" y="3968375"/>
            <a:ext cx="35208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CatBoost vs AutoGluon</a:t>
            </a:r>
            <a:endParaRPr sz="18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AutoGluon를 활용한 예측 모델</a:t>
            </a:r>
            <a:endParaRPr sz="18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26754d6aef_3_15"/>
          <p:cNvSpPr/>
          <p:nvPr/>
        </p:nvSpPr>
        <p:spPr>
          <a:xfrm>
            <a:off x="251520" y="620688"/>
            <a:ext cx="8640900" cy="5976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chemeClr val="dk1"/>
              </a:solidFill>
            </a:endParaRPr>
          </a:p>
        </p:txBody>
      </p:sp>
      <p:sp>
        <p:nvSpPr>
          <p:cNvPr id="304" name="Google Shape;304;g226754d6aef_3_15"/>
          <p:cNvSpPr/>
          <p:nvPr/>
        </p:nvSpPr>
        <p:spPr>
          <a:xfrm>
            <a:off x="4067944" y="74100"/>
            <a:ext cx="936000" cy="93600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5" name="Google Shape;305;g226754d6aef_3_15"/>
          <p:cNvSpPr/>
          <p:nvPr/>
        </p:nvSpPr>
        <p:spPr>
          <a:xfrm>
            <a:off x="-9129" y="195475"/>
            <a:ext cx="3393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-KR" sz="12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LGAimers 스마트 공장 제품 품질 상태 분류 AI</a:t>
            </a:r>
            <a:endParaRPr sz="22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6" name="Google Shape;306;g226754d6aef_3_15"/>
          <p:cNvSpPr txBox="1"/>
          <p:nvPr/>
        </p:nvSpPr>
        <p:spPr>
          <a:xfrm>
            <a:off x="3995936" y="479095"/>
            <a:ext cx="108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ko-KR" sz="2400">
                <a:solidFill>
                  <a:schemeClr val="lt1"/>
                </a:solidFill>
              </a:rPr>
              <a:t>3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226754d6aef_3_15"/>
          <p:cNvSpPr txBox="1"/>
          <p:nvPr/>
        </p:nvSpPr>
        <p:spPr>
          <a:xfrm>
            <a:off x="634400" y="992575"/>
            <a:ext cx="7733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5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CatBoost vs AutoGluon</a:t>
            </a:r>
            <a:endParaRPr sz="25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8" name="Google Shape;308;g226754d6aef_3_15"/>
          <p:cNvSpPr txBox="1"/>
          <p:nvPr/>
        </p:nvSpPr>
        <p:spPr>
          <a:xfrm>
            <a:off x="950000" y="2072911"/>
            <a:ext cx="2939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: </a:t>
            </a:r>
            <a:r>
              <a:rPr lang="ko-KR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LightGBM</a:t>
            </a:r>
            <a:r>
              <a:rPr 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XGBoost</a:t>
            </a:r>
            <a:r>
              <a:rPr 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등 </a:t>
            </a:r>
            <a:endParaRPr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다양한 </a:t>
            </a:r>
            <a:r>
              <a:rPr lang="ko-KR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부스팅</a:t>
            </a:r>
            <a:r>
              <a:rPr 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계열 중 </a:t>
            </a:r>
            <a:endParaRPr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가장 성능이 좋았던 </a:t>
            </a:r>
            <a:r>
              <a:rPr lang="ko-KR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CatBoost를</a:t>
            </a:r>
            <a:r>
              <a:rPr 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활용</a:t>
            </a:r>
            <a:endParaRPr sz="25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9" name="Google Shape;309;g226754d6aef_3_15"/>
          <p:cNvSpPr txBox="1"/>
          <p:nvPr/>
        </p:nvSpPr>
        <p:spPr>
          <a:xfrm>
            <a:off x="5157600" y="1965209"/>
            <a:ext cx="31755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본선 : 테이블 데이터를 자동으로 학습하는 </a:t>
            </a:r>
            <a:endParaRPr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AutoML</a:t>
            </a:r>
            <a:r>
              <a:rPr 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프레임워크 </a:t>
            </a:r>
            <a:r>
              <a:rPr lang="ko-KR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AutoGluon</a:t>
            </a:r>
            <a:r>
              <a:rPr 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활용</a:t>
            </a:r>
            <a:endParaRPr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-&gt; </a:t>
            </a:r>
            <a:r>
              <a:rPr lang="ko-KR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week</a:t>
            </a:r>
            <a:r>
              <a:rPr 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classifier을</a:t>
            </a:r>
            <a:r>
              <a:rPr 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활용한 weightedEnsemble_L2</a:t>
            </a:r>
            <a:endParaRPr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10" name="Google Shape;310;g226754d6aef_3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9418" y="3625955"/>
            <a:ext cx="3324249" cy="237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g226754d6aef_3_15"/>
          <p:cNvPicPr preferRelativeResize="0"/>
          <p:nvPr/>
        </p:nvPicPr>
        <p:blipFill rotWithShape="1">
          <a:blip r:embed="rId4">
            <a:alphaModFix/>
          </a:blip>
          <a:srcRect r="40999"/>
          <a:stretch/>
        </p:blipFill>
        <p:spPr>
          <a:xfrm>
            <a:off x="979800" y="3431200"/>
            <a:ext cx="2879799" cy="143034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2" name="Google Shape;312;g226754d6aef_3_15"/>
          <p:cNvCxnSpPr/>
          <p:nvPr/>
        </p:nvCxnSpPr>
        <p:spPr>
          <a:xfrm>
            <a:off x="4634150" y="1731150"/>
            <a:ext cx="39900" cy="3875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26754d6aef_3_27"/>
          <p:cNvSpPr/>
          <p:nvPr/>
        </p:nvSpPr>
        <p:spPr>
          <a:xfrm>
            <a:off x="251520" y="620688"/>
            <a:ext cx="8640900" cy="5976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9" name="Google Shape;319;g226754d6aef_3_27"/>
          <p:cNvSpPr/>
          <p:nvPr/>
        </p:nvSpPr>
        <p:spPr>
          <a:xfrm>
            <a:off x="4067944" y="74100"/>
            <a:ext cx="936000" cy="93600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0" name="Google Shape;320;g226754d6aef_3_27"/>
          <p:cNvSpPr/>
          <p:nvPr/>
        </p:nvSpPr>
        <p:spPr>
          <a:xfrm>
            <a:off x="-9129" y="195475"/>
            <a:ext cx="3393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-KR" sz="12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LGAimers 스마트 공장 제품 품질 상태 분류 AI</a:t>
            </a:r>
            <a:endParaRPr sz="22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1" name="Google Shape;321;g226754d6aef_3_27"/>
          <p:cNvSpPr txBox="1"/>
          <p:nvPr/>
        </p:nvSpPr>
        <p:spPr>
          <a:xfrm>
            <a:off x="3995936" y="479095"/>
            <a:ext cx="108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ko-KR" sz="2400">
                <a:solidFill>
                  <a:schemeClr val="lt1"/>
                </a:solidFill>
              </a:rPr>
              <a:t>3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226754d6aef_3_27"/>
          <p:cNvSpPr txBox="1"/>
          <p:nvPr/>
        </p:nvSpPr>
        <p:spPr>
          <a:xfrm>
            <a:off x="634400" y="992575"/>
            <a:ext cx="7733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5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AutoGluon</a:t>
            </a:r>
            <a:endParaRPr sz="25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3" name="Google Shape;323;g226754d6aef_3_27"/>
          <p:cNvSpPr txBox="1"/>
          <p:nvPr/>
        </p:nvSpPr>
        <p:spPr>
          <a:xfrm>
            <a:off x="570900" y="1837375"/>
            <a:ext cx="8002200" cy="231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사용한 이유</a:t>
            </a:r>
            <a:endParaRPr sz="18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다른 </a:t>
            </a:r>
            <a:r>
              <a:rPr lang="ko-KR" sz="13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AutoML</a:t>
            </a:r>
            <a:r>
              <a:rPr 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프레임워크에 비해 </a:t>
            </a:r>
            <a:r>
              <a:rPr lang="ko-KR" sz="13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하이퍼파라미터</a:t>
            </a:r>
            <a:r>
              <a:rPr 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개수가 적다.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여러 모델 중 어떤 모델에서 성능이 </a:t>
            </a:r>
            <a:r>
              <a:rPr lang="ko-KR" sz="13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좋은지와</a:t>
            </a:r>
            <a:r>
              <a:rPr 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사용 여부를 알려주어 </a:t>
            </a:r>
            <a:r>
              <a:rPr lang="ko-KR" sz="13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AutoML이지만</a:t>
            </a:r>
            <a:r>
              <a:rPr 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설명 가능하다.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파생변수 생성, </a:t>
            </a:r>
            <a:r>
              <a:rPr lang="ko-KR" sz="13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결측치</a:t>
            </a:r>
            <a:r>
              <a:rPr 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처리, 그룹화 등의 전처리와 잘 맞는 모델을 사용할 수 있었다.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선택된 모델인 weightedEnsemble_L2 가 L2(</a:t>
            </a:r>
            <a:r>
              <a:rPr lang="ko-KR" sz="13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릿지</a:t>
            </a:r>
            <a:r>
              <a:rPr 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) 규제를 포함하고 있어 </a:t>
            </a:r>
            <a:r>
              <a:rPr lang="ko-KR" sz="13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과적합</a:t>
            </a:r>
            <a:r>
              <a:rPr 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요소를 줄여주었다.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24" name="Google Shape;324;g226754d6aef_3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257" y="4538694"/>
            <a:ext cx="7555426" cy="123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26754d6aef_3_51"/>
          <p:cNvSpPr/>
          <p:nvPr/>
        </p:nvSpPr>
        <p:spPr>
          <a:xfrm>
            <a:off x="251520" y="620688"/>
            <a:ext cx="8640900" cy="5976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1" name="Google Shape;331;g226754d6aef_3_51"/>
          <p:cNvSpPr/>
          <p:nvPr/>
        </p:nvSpPr>
        <p:spPr>
          <a:xfrm>
            <a:off x="4067944" y="74100"/>
            <a:ext cx="936000" cy="93600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2" name="Google Shape;332;g226754d6aef_3_51"/>
          <p:cNvSpPr/>
          <p:nvPr/>
        </p:nvSpPr>
        <p:spPr>
          <a:xfrm>
            <a:off x="-9129" y="195475"/>
            <a:ext cx="3393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-KR" sz="12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LGAimers 스마트 공장 제품 품질 상태 분류 AI</a:t>
            </a:r>
            <a:endParaRPr sz="22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3" name="Google Shape;333;g226754d6aef_3_51"/>
          <p:cNvSpPr txBox="1"/>
          <p:nvPr/>
        </p:nvSpPr>
        <p:spPr>
          <a:xfrm>
            <a:off x="3995936" y="479095"/>
            <a:ext cx="108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ko-KR" sz="2400">
                <a:solidFill>
                  <a:schemeClr val="lt1"/>
                </a:solidFill>
              </a:rPr>
              <a:t>3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226754d6aef_3_51"/>
          <p:cNvSpPr txBox="1"/>
          <p:nvPr/>
        </p:nvSpPr>
        <p:spPr>
          <a:xfrm>
            <a:off x="634400" y="992575"/>
            <a:ext cx="7733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5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WeightedEnsemble_L2</a:t>
            </a:r>
            <a:endParaRPr sz="25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5" name="Google Shape;335;g226754d6aef_3_51"/>
          <p:cNvSpPr txBox="1"/>
          <p:nvPr/>
        </p:nvSpPr>
        <p:spPr>
          <a:xfrm>
            <a:off x="570900" y="3282623"/>
            <a:ext cx="8002200" cy="270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9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L2, </a:t>
            </a:r>
            <a:r>
              <a:rPr lang="ko-KR" sz="19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릿지</a:t>
            </a:r>
            <a:r>
              <a:rPr lang="ko-KR" sz="19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ko-KR" sz="19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Ridge</a:t>
            </a:r>
            <a:r>
              <a:rPr lang="ko-KR" sz="19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) 규제</a:t>
            </a:r>
            <a:endParaRPr sz="19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기존 손실함수에 L2항을 추가한 것으로, 특성의 중요도가 전체적으로 비슷한 </a:t>
            </a:r>
            <a:endParaRPr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non-sparse</a:t>
            </a:r>
            <a:r>
              <a:rPr 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model에</a:t>
            </a:r>
            <a:r>
              <a:rPr 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적합한 규제 방식. </a:t>
            </a:r>
            <a:r>
              <a:rPr lang="ko-KR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과적합되지</a:t>
            </a:r>
            <a:r>
              <a:rPr 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않고 일반성을 가지도록 규제하는 방식.</a:t>
            </a:r>
            <a:endParaRPr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주어진 데이터셋이 전체적으로 보았을 때는 </a:t>
            </a:r>
            <a:r>
              <a:rPr lang="ko-KR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결측치가</a:t>
            </a:r>
            <a:r>
              <a:rPr 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매우 많은 </a:t>
            </a:r>
            <a:r>
              <a:rPr lang="ko-KR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sparse</a:t>
            </a:r>
            <a:r>
              <a:rPr 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matrix이지만</a:t>
            </a:r>
            <a:r>
              <a:rPr 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endParaRPr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앞서 진행한 전처리에서 나누어 학습했기 때문에 L2규제가 도움이 된 것으로 판단.</a:t>
            </a:r>
            <a:endParaRPr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6" name="Google Shape;336;g226754d6aef_3_51"/>
          <p:cNvSpPr txBox="1"/>
          <p:nvPr/>
        </p:nvSpPr>
        <p:spPr>
          <a:xfrm>
            <a:off x="570900" y="1893338"/>
            <a:ext cx="8002200" cy="9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9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WeightedEnsemble</a:t>
            </a:r>
            <a:endParaRPr sz="19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다양한 </a:t>
            </a:r>
            <a:r>
              <a:rPr lang="ko-KR" sz="15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week</a:t>
            </a:r>
            <a:r>
              <a:rPr lang="ko-KR" sz="15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5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classifier를</a:t>
            </a:r>
            <a:r>
              <a:rPr lang="ko-KR" sz="15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가중치를 이용한 앙상블 모델 적용</a:t>
            </a:r>
            <a:endParaRPr sz="15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b68fc20802_0_42"/>
          <p:cNvSpPr/>
          <p:nvPr/>
        </p:nvSpPr>
        <p:spPr>
          <a:xfrm>
            <a:off x="251520" y="620688"/>
            <a:ext cx="8640900" cy="5976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z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3" name="Google Shape;343;g1b68fc20802_0_42"/>
          <p:cNvSpPr/>
          <p:nvPr/>
        </p:nvSpPr>
        <p:spPr>
          <a:xfrm>
            <a:off x="4067944" y="74100"/>
            <a:ext cx="936000" cy="93600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4" name="Google Shape;344;g1b68fc20802_0_42"/>
          <p:cNvSpPr/>
          <p:nvPr/>
        </p:nvSpPr>
        <p:spPr>
          <a:xfrm>
            <a:off x="-9129" y="195475"/>
            <a:ext cx="3393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LGAimers 스마트 공장 제품 품질 상태 분류 AI</a:t>
            </a:r>
            <a:endParaRPr sz="22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5" name="Google Shape;345;g1b68fc20802_0_42"/>
          <p:cNvSpPr txBox="1"/>
          <p:nvPr/>
        </p:nvSpPr>
        <p:spPr>
          <a:xfrm>
            <a:off x="3995936" y="479095"/>
            <a:ext cx="108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ko-KR" sz="2400">
                <a:solidFill>
                  <a:schemeClr val="lt1"/>
                </a:solidFill>
              </a:rPr>
              <a:t>3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1b68fc20802_0_42"/>
          <p:cNvSpPr txBox="1"/>
          <p:nvPr/>
        </p:nvSpPr>
        <p:spPr>
          <a:xfrm>
            <a:off x="7164288" y="6546830"/>
            <a:ext cx="1728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MINHEEBLOG</a:t>
            </a:r>
            <a:endParaRPr sz="1600">
              <a:solidFill>
                <a:srgbClr val="BFBFB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7" name="Google Shape;347;g1b68fc20802_0_42"/>
          <p:cNvSpPr txBox="1"/>
          <p:nvPr/>
        </p:nvSpPr>
        <p:spPr>
          <a:xfrm>
            <a:off x="634400" y="992575"/>
            <a:ext cx="7733100" cy="10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5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생성 - 1. 접근 방식</a:t>
            </a:r>
            <a:endParaRPr sz="25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8" name="Google Shape;348;g1b68fc20802_0_42"/>
          <p:cNvSpPr txBox="1"/>
          <p:nvPr/>
        </p:nvSpPr>
        <p:spPr>
          <a:xfrm>
            <a:off x="626805" y="5127040"/>
            <a:ext cx="7733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2) 전처리 과정에서 나눈 그룹별로 Y_Quality 점수를 예측하는 모델 생성</a:t>
            </a:r>
            <a:endParaRPr sz="18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9" name="Google Shape;349;g1b68fc20802_0_42"/>
          <p:cNvSpPr txBox="1"/>
          <p:nvPr/>
        </p:nvSpPr>
        <p:spPr>
          <a:xfrm>
            <a:off x="626802" y="1670025"/>
            <a:ext cx="58086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1) Y_class를 구분하는 Y_Quality값 기준점 확인</a:t>
            </a:r>
            <a:endParaRPr sz="18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8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0" name="Google Shape;350;g1b68fc20802_0_42"/>
          <p:cNvSpPr txBox="1"/>
          <p:nvPr/>
        </p:nvSpPr>
        <p:spPr>
          <a:xfrm>
            <a:off x="626800" y="5769925"/>
            <a:ext cx="6824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-KR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3) 예측된 Y_Quality를 기준점에 따라 Y_Class 0, 1, 2 최종 분류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1" name="Google Shape;351;g1b68fc20802_0_42"/>
          <p:cNvSpPr/>
          <p:nvPr/>
        </p:nvSpPr>
        <p:spPr>
          <a:xfrm>
            <a:off x="4700260" y="3263241"/>
            <a:ext cx="662400" cy="699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5D8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2" name="Google Shape;352;g1b68fc20802_0_42"/>
          <p:cNvGrpSpPr/>
          <p:nvPr/>
        </p:nvGrpSpPr>
        <p:grpSpPr>
          <a:xfrm>
            <a:off x="634412" y="2218244"/>
            <a:ext cx="3885030" cy="2596834"/>
            <a:chOff x="603163" y="2098538"/>
            <a:chExt cx="3885030" cy="2596834"/>
          </a:xfrm>
        </p:grpSpPr>
        <p:grpSp>
          <p:nvGrpSpPr>
            <p:cNvPr id="353" name="Google Shape;353;g1b68fc20802_0_42"/>
            <p:cNvGrpSpPr/>
            <p:nvPr/>
          </p:nvGrpSpPr>
          <p:grpSpPr>
            <a:xfrm>
              <a:off x="655363" y="2098538"/>
              <a:ext cx="3688562" cy="2596834"/>
              <a:chOff x="668400" y="2570050"/>
              <a:chExt cx="4266700" cy="2787200"/>
            </a:xfrm>
          </p:grpSpPr>
          <p:pic>
            <p:nvPicPr>
              <p:cNvPr id="354" name="Google Shape;354;g1b68fc20802_0_4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68400" y="2570050"/>
                <a:ext cx="4266700" cy="278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5" name="Google Shape;355;g1b68fc20802_0_42"/>
              <p:cNvSpPr/>
              <p:nvPr/>
            </p:nvSpPr>
            <p:spPr>
              <a:xfrm>
                <a:off x="4209222" y="3233431"/>
                <a:ext cx="659100" cy="185700"/>
              </a:xfrm>
              <a:prstGeom prst="rect">
                <a:avLst/>
              </a:prstGeom>
              <a:noFill/>
              <a:ln w="9525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g1b68fc20802_0_42"/>
              <p:cNvSpPr/>
              <p:nvPr/>
            </p:nvSpPr>
            <p:spPr>
              <a:xfrm>
                <a:off x="4209222" y="4136056"/>
                <a:ext cx="659100" cy="185700"/>
              </a:xfrm>
              <a:prstGeom prst="rect">
                <a:avLst/>
              </a:prstGeom>
              <a:noFill/>
              <a:ln w="9525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g1b68fc20802_0_42"/>
              <p:cNvSpPr/>
              <p:nvPr/>
            </p:nvSpPr>
            <p:spPr>
              <a:xfrm>
                <a:off x="2806822" y="3538031"/>
                <a:ext cx="659100" cy="185700"/>
              </a:xfrm>
              <a:prstGeom prst="rect">
                <a:avLst/>
              </a:prstGeom>
              <a:noFill/>
              <a:ln w="9525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g1b68fc20802_0_42"/>
              <p:cNvSpPr/>
              <p:nvPr/>
            </p:nvSpPr>
            <p:spPr>
              <a:xfrm>
                <a:off x="2806822" y="4429781"/>
                <a:ext cx="659100" cy="185700"/>
              </a:xfrm>
              <a:prstGeom prst="rect">
                <a:avLst/>
              </a:prstGeom>
              <a:noFill/>
              <a:ln w="9525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59" name="Google Shape;359;g1b68fc20802_0_42"/>
            <p:cNvCxnSpPr/>
            <p:nvPr/>
          </p:nvCxnSpPr>
          <p:spPr>
            <a:xfrm rot="10800000" flipH="1">
              <a:off x="634393" y="2938919"/>
              <a:ext cx="38538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0" name="Google Shape;360;g1b68fc20802_0_42"/>
            <p:cNvCxnSpPr/>
            <p:nvPr/>
          </p:nvCxnSpPr>
          <p:spPr>
            <a:xfrm rot="10800000" flipH="1">
              <a:off x="603163" y="3788105"/>
              <a:ext cx="3853800" cy="99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aphicFrame>
        <p:nvGraphicFramePr>
          <p:cNvPr id="361" name="Google Shape;361;g1b68fc20802_0_42"/>
          <p:cNvGraphicFramePr/>
          <p:nvPr/>
        </p:nvGraphicFramePr>
        <p:xfrm>
          <a:off x="5630425" y="2885939"/>
          <a:ext cx="1994350" cy="1401960"/>
        </p:xfrm>
        <a:graphic>
          <a:graphicData uri="http://schemas.openxmlformats.org/drawingml/2006/table">
            <a:tbl>
              <a:tblPr>
                <a:noFill/>
                <a:tableStyleId>{554E91F2-B362-45D5-AED7-11E8FC1FD59A}</a:tableStyleId>
              </a:tblPr>
              <a:tblGrid>
                <a:gridCol w="749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5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/>
                        <a:t>Y_Class</a:t>
                      </a:r>
                      <a:endParaRPr sz="1100" b="1"/>
                    </a:p>
                  </a:txBody>
                  <a:tcPr marL="91425" marR="91425" marT="91425" marB="91425"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/>
                        <a:t>Y_Quality</a:t>
                      </a:r>
                      <a:endParaRPr sz="1100" b="1"/>
                    </a:p>
                  </a:txBody>
                  <a:tcPr marL="91425" marR="91425" marT="91425" marB="91425" anchor="ctr">
                    <a:solidFill>
                      <a:srgbClr val="DA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/>
                        <a:t>0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/>
                        <a:t>&lt; 0.5255</a:t>
                      </a:r>
                      <a:endParaRPr sz="11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/>
                        <a:t>1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/>
                        <a:t>0.5255 ~ 0.5349</a:t>
                      </a:r>
                      <a:endParaRPr sz="11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/>
                        <a:t>2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/>
                        <a:t>&gt;= 0.5349</a:t>
                      </a:r>
                      <a:endParaRPr sz="11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1b68fc20802_0_52"/>
          <p:cNvSpPr/>
          <p:nvPr/>
        </p:nvSpPr>
        <p:spPr>
          <a:xfrm>
            <a:off x="251520" y="620688"/>
            <a:ext cx="8640900" cy="5976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8" name="Google Shape;368;g1b68fc20802_0_52"/>
          <p:cNvSpPr/>
          <p:nvPr/>
        </p:nvSpPr>
        <p:spPr>
          <a:xfrm>
            <a:off x="1171681" y="4164115"/>
            <a:ext cx="6773700" cy="752700"/>
          </a:xfrm>
          <a:prstGeom prst="rect">
            <a:avLst/>
          </a:prstGeom>
          <a:noFill/>
          <a:ln w="38100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g1b68fc20802_0_52"/>
          <p:cNvSpPr/>
          <p:nvPr/>
        </p:nvSpPr>
        <p:spPr>
          <a:xfrm>
            <a:off x="4067944" y="74100"/>
            <a:ext cx="936000" cy="93600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0" name="Google Shape;370;g1b68fc20802_0_52"/>
          <p:cNvSpPr/>
          <p:nvPr/>
        </p:nvSpPr>
        <p:spPr>
          <a:xfrm>
            <a:off x="-9129" y="195475"/>
            <a:ext cx="3393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LGAimers 스마트 공장 제품 품질 상태 분류 AI</a:t>
            </a:r>
            <a:endParaRPr sz="22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1" name="Google Shape;371;g1b68fc20802_0_52"/>
          <p:cNvSpPr txBox="1"/>
          <p:nvPr/>
        </p:nvSpPr>
        <p:spPr>
          <a:xfrm>
            <a:off x="3995936" y="479095"/>
            <a:ext cx="108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ko-KR" sz="2400">
                <a:solidFill>
                  <a:schemeClr val="lt1"/>
                </a:solidFill>
              </a:rPr>
              <a:t>3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g1b68fc20802_0_52"/>
          <p:cNvSpPr txBox="1"/>
          <p:nvPr/>
        </p:nvSpPr>
        <p:spPr>
          <a:xfrm>
            <a:off x="7164288" y="6546830"/>
            <a:ext cx="1728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MINHEEBLOG</a:t>
            </a:r>
            <a:endParaRPr sz="1600">
              <a:solidFill>
                <a:srgbClr val="BFBFB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3" name="Google Shape;373;g1b68fc20802_0_52"/>
          <p:cNvSpPr txBox="1"/>
          <p:nvPr/>
        </p:nvSpPr>
        <p:spPr>
          <a:xfrm>
            <a:off x="634400" y="992575"/>
            <a:ext cx="7733100" cy="10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500" b="1">
                <a:solidFill>
                  <a:schemeClr val="dk1"/>
                </a:solidFill>
              </a:rPr>
              <a:t>모델 생성 - 2. 결과</a:t>
            </a:r>
            <a:endParaRPr sz="2500" b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74" name="Google Shape;374;g1b68fc20802_0_52"/>
          <p:cNvGraphicFramePr/>
          <p:nvPr/>
        </p:nvGraphicFramePr>
        <p:xfrm>
          <a:off x="1251556" y="2373771"/>
          <a:ext cx="6596000" cy="2611060"/>
        </p:xfrm>
        <a:graphic>
          <a:graphicData uri="http://schemas.openxmlformats.org/drawingml/2006/table">
            <a:tbl>
              <a:tblPr>
                <a:noFill/>
                <a:tableStyleId>{264F3B0A-22EB-4365-85DB-DF92B2E35C1A}</a:tableStyleId>
              </a:tblPr>
              <a:tblGrid>
                <a:gridCol w="248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모델</a:t>
                      </a:r>
                      <a:endParaRPr sz="15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900" marB="1790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결과</a:t>
                      </a:r>
                      <a:endParaRPr sz="15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900" marB="1790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2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Pycaret</a:t>
                      </a:r>
                      <a:endParaRPr sz="15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900" marB="1790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Public: 0.6774</a:t>
                      </a:r>
                      <a:endParaRPr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900" marB="1790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2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Catboost</a:t>
                      </a:r>
                      <a:endParaRPr sz="1500" b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900" marB="1790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Public: 0.7165</a:t>
                      </a:r>
                      <a:endParaRPr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900" marB="1790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2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Autogluon</a:t>
                      </a:r>
                      <a:endParaRPr sz="15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900" marB="1790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Public: 0.7521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457200" lvl="0" indent="-31750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Private: 6861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4775" marR="64775" marT="17900" marB="1790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5" name="Google Shape;375;g1b68fc20802_0_52"/>
          <p:cNvSpPr txBox="1"/>
          <p:nvPr/>
        </p:nvSpPr>
        <p:spPr>
          <a:xfrm>
            <a:off x="557373" y="5642600"/>
            <a:ext cx="8577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/>
              <a:t>다양한 시도 결과, </a:t>
            </a:r>
            <a:r>
              <a:rPr lang="ko-KR" sz="1800" b="1" u="sng"/>
              <a:t>Autogluon 모델</a:t>
            </a:r>
            <a:r>
              <a:rPr lang="ko-KR" sz="1800" b="1"/>
              <a:t>이 Public / Private 모두에서 가장 성능이 좋았다.</a:t>
            </a:r>
            <a:endParaRPr sz="1800"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1b68fc20802_0_72"/>
          <p:cNvSpPr/>
          <p:nvPr/>
        </p:nvSpPr>
        <p:spPr>
          <a:xfrm>
            <a:off x="251520" y="620688"/>
            <a:ext cx="8640900" cy="5976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2" name="Google Shape;382;g1b68fc20802_0_72"/>
          <p:cNvSpPr/>
          <p:nvPr/>
        </p:nvSpPr>
        <p:spPr>
          <a:xfrm>
            <a:off x="4067944" y="74100"/>
            <a:ext cx="936000" cy="93600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3" name="Google Shape;383;g1b68fc20802_0_72"/>
          <p:cNvSpPr/>
          <p:nvPr/>
        </p:nvSpPr>
        <p:spPr>
          <a:xfrm>
            <a:off x="-9129" y="195475"/>
            <a:ext cx="3393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LGAimers 스마트 공장 제품 품질 상태 분류 AI</a:t>
            </a:r>
            <a:endParaRPr sz="22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4" name="Google Shape;384;g1b68fc20802_0_72"/>
          <p:cNvSpPr txBox="1"/>
          <p:nvPr/>
        </p:nvSpPr>
        <p:spPr>
          <a:xfrm>
            <a:off x="3995936" y="479095"/>
            <a:ext cx="108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ko-KR" sz="2400">
                <a:solidFill>
                  <a:schemeClr val="lt1"/>
                </a:solidFill>
              </a:rPr>
              <a:t>3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g1b68fc20802_0_72"/>
          <p:cNvSpPr txBox="1"/>
          <p:nvPr/>
        </p:nvSpPr>
        <p:spPr>
          <a:xfrm>
            <a:off x="7164288" y="6546830"/>
            <a:ext cx="1728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MINHEEBLOG</a:t>
            </a:r>
            <a:endParaRPr sz="1600">
              <a:solidFill>
                <a:srgbClr val="BFBFB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6" name="Google Shape;386;g1b68fc20802_0_72"/>
          <p:cNvSpPr txBox="1"/>
          <p:nvPr/>
        </p:nvSpPr>
        <p:spPr>
          <a:xfrm>
            <a:off x="603626" y="1687427"/>
            <a:ext cx="79098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LINE, PRODUCT_CODE에 따라 분리된 dataset별로 모델을 학습시켰다.</a:t>
            </a:r>
            <a:endParaRPr sz="1200">
              <a:solidFill>
                <a:srgbClr val="333333"/>
              </a:solidFill>
            </a:endParaRPr>
          </a:p>
          <a:p>
            <a:pPr marL="45720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333333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33333"/>
                </a:solidFill>
              </a:rPr>
              <a:t> 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387" name="Google Shape;387;g1b68fc20802_0_72"/>
          <p:cNvSpPr txBox="1"/>
          <p:nvPr/>
        </p:nvSpPr>
        <p:spPr>
          <a:xfrm>
            <a:off x="665150" y="905600"/>
            <a:ext cx="69162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500" b="1"/>
              <a:t>최종 모델 - Autogluon</a:t>
            </a:r>
            <a:endParaRPr sz="2500" b="1"/>
          </a:p>
        </p:txBody>
      </p:sp>
      <p:sp>
        <p:nvSpPr>
          <p:cNvPr id="388" name="Google Shape;388;g1b68fc20802_0_72"/>
          <p:cNvSpPr txBox="1"/>
          <p:nvPr/>
        </p:nvSpPr>
        <p:spPr>
          <a:xfrm>
            <a:off x="2128825" y="2992700"/>
            <a:ext cx="5775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89" name="Google Shape;389;g1b68fc20802_0_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9073" y="2504264"/>
            <a:ext cx="6245869" cy="1039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g1b68fc20802_0_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2923" y="3770644"/>
            <a:ext cx="6246001" cy="104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g1b68fc20802_0_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12938" y="5107223"/>
            <a:ext cx="6246001" cy="5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226754d6aef_0_19"/>
          <p:cNvSpPr/>
          <p:nvPr/>
        </p:nvSpPr>
        <p:spPr>
          <a:xfrm>
            <a:off x="251520" y="620688"/>
            <a:ext cx="8640900" cy="5976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8" name="Google Shape;398;g226754d6aef_0_19"/>
          <p:cNvSpPr/>
          <p:nvPr/>
        </p:nvSpPr>
        <p:spPr>
          <a:xfrm>
            <a:off x="4067944" y="74100"/>
            <a:ext cx="936000" cy="93600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9" name="Google Shape;399;g226754d6aef_0_19"/>
          <p:cNvSpPr/>
          <p:nvPr/>
        </p:nvSpPr>
        <p:spPr>
          <a:xfrm>
            <a:off x="-9129" y="195475"/>
            <a:ext cx="3393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LGAimers 스마트 공장 제품 품질 상태 분류 AI</a:t>
            </a:r>
            <a:endParaRPr sz="22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0" name="Google Shape;400;g226754d6aef_0_19"/>
          <p:cNvSpPr txBox="1"/>
          <p:nvPr/>
        </p:nvSpPr>
        <p:spPr>
          <a:xfrm>
            <a:off x="3995936" y="479095"/>
            <a:ext cx="108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ko-KR" sz="2400">
                <a:solidFill>
                  <a:schemeClr val="lt1"/>
                </a:solidFill>
              </a:rPr>
              <a:t>3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g226754d6aef_0_19"/>
          <p:cNvSpPr txBox="1"/>
          <p:nvPr/>
        </p:nvSpPr>
        <p:spPr>
          <a:xfrm>
            <a:off x="7164288" y="6546830"/>
            <a:ext cx="1728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MINHEEBLOG</a:t>
            </a:r>
            <a:endParaRPr sz="1600">
              <a:solidFill>
                <a:srgbClr val="BFBFB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2" name="Google Shape;402;g226754d6aef_0_19"/>
          <p:cNvSpPr txBox="1"/>
          <p:nvPr/>
        </p:nvSpPr>
        <p:spPr>
          <a:xfrm>
            <a:off x="527426" y="1611227"/>
            <a:ext cx="79098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학습된 모델을 바탕으로 </a:t>
            </a:r>
            <a:r>
              <a:rPr lang="ko-KR"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Test</a:t>
            </a:r>
            <a:r>
              <a:rPr 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data를</a:t>
            </a:r>
            <a:r>
              <a:rPr 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예측했다.</a:t>
            </a:r>
            <a:endParaRPr sz="1200" dirty="0">
              <a:solidFill>
                <a:srgbClr val="333333"/>
              </a:solidFill>
            </a:endParaRPr>
          </a:p>
          <a:p>
            <a:pPr marL="45720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333333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dirty="0">
                <a:solidFill>
                  <a:srgbClr val="333333"/>
                </a:solidFill>
              </a:rPr>
              <a:t> </a:t>
            </a:r>
            <a:endParaRPr sz="1200" dirty="0">
              <a:solidFill>
                <a:srgbClr val="333333"/>
              </a:solidFill>
            </a:endParaRPr>
          </a:p>
        </p:txBody>
      </p:sp>
      <p:sp>
        <p:nvSpPr>
          <p:cNvPr id="403" name="Google Shape;403;g226754d6aef_0_19"/>
          <p:cNvSpPr txBox="1"/>
          <p:nvPr/>
        </p:nvSpPr>
        <p:spPr>
          <a:xfrm>
            <a:off x="665150" y="905600"/>
            <a:ext cx="69162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500" b="1"/>
              <a:t>최종 모델 - Autogluon</a:t>
            </a:r>
            <a:endParaRPr sz="2500" b="1"/>
          </a:p>
        </p:txBody>
      </p:sp>
      <p:sp>
        <p:nvSpPr>
          <p:cNvPr id="404" name="Google Shape;404;g226754d6aef_0_19"/>
          <p:cNvSpPr txBox="1"/>
          <p:nvPr/>
        </p:nvSpPr>
        <p:spPr>
          <a:xfrm>
            <a:off x="2128825" y="2992700"/>
            <a:ext cx="5775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05" name="Google Shape;405;g226754d6aef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6309" y="2239626"/>
            <a:ext cx="4330750" cy="1915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g226754d6aef_0_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9878" y="4255786"/>
            <a:ext cx="4575934" cy="2243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1b68fc20802_0_23"/>
          <p:cNvSpPr txBox="1"/>
          <p:nvPr/>
        </p:nvSpPr>
        <p:spPr>
          <a:xfrm>
            <a:off x="-71047" y="201355"/>
            <a:ext cx="4176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LGAimers 스마트 공장 제품 품질 상태 분류 AI</a:t>
            </a:r>
            <a:endParaRPr sz="24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4" name="Google Shape;414;g1b68fc20802_0_23"/>
          <p:cNvSpPr txBox="1"/>
          <p:nvPr/>
        </p:nvSpPr>
        <p:spPr>
          <a:xfrm>
            <a:off x="3297628" y="2554691"/>
            <a:ext cx="8496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ko-KR" sz="5400">
                <a:solidFill>
                  <a:schemeClr val="lt1"/>
                </a:solidFill>
              </a:rPr>
              <a:t>4</a:t>
            </a:r>
            <a:r>
              <a:rPr lang="ko-KR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5400">
                <a:solidFill>
                  <a:schemeClr val="lt1"/>
                </a:solidFill>
              </a:rPr>
              <a:t> 적용 가능성</a:t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5" name="Google Shape;415;g1b68fc20802_0_23"/>
          <p:cNvCxnSpPr/>
          <p:nvPr/>
        </p:nvCxnSpPr>
        <p:spPr>
          <a:xfrm rot="10800000" flipH="1">
            <a:off x="2901925" y="3644225"/>
            <a:ext cx="6242100" cy="276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6" name="Google Shape;416;g1b68fc20802_0_23"/>
          <p:cNvSpPr txBox="1"/>
          <p:nvPr/>
        </p:nvSpPr>
        <p:spPr>
          <a:xfrm>
            <a:off x="6445082" y="3968375"/>
            <a:ext cx="22020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컴퓨팅 자원</a:t>
            </a:r>
            <a:endParaRPr sz="18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 소요 시간</a:t>
            </a:r>
            <a:endParaRPr sz="18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예측 소요 시간</a:t>
            </a:r>
            <a:endParaRPr sz="18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1b68fc20802_0_82"/>
          <p:cNvSpPr/>
          <p:nvPr/>
        </p:nvSpPr>
        <p:spPr>
          <a:xfrm>
            <a:off x="251520" y="620688"/>
            <a:ext cx="8640900" cy="5976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3" name="Google Shape;423;g1b68fc20802_0_82"/>
          <p:cNvSpPr/>
          <p:nvPr/>
        </p:nvSpPr>
        <p:spPr>
          <a:xfrm>
            <a:off x="4067944" y="74100"/>
            <a:ext cx="936000" cy="93600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4" name="Google Shape;424;g1b68fc20802_0_82"/>
          <p:cNvSpPr/>
          <p:nvPr/>
        </p:nvSpPr>
        <p:spPr>
          <a:xfrm>
            <a:off x="-9129" y="195475"/>
            <a:ext cx="3393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LGAimers 스마트 공장 제품 품질 상태 분류 AI</a:t>
            </a:r>
            <a:endParaRPr sz="22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5" name="Google Shape;425;g1b68fc20802_0_82"/>
          <p:cNvSpPr txBox="1"/>
          <p:nvPr/>
        </p:nvSpPr>
        <p:spPr>
          <a:xfrm>
            <a:off x="3995936" y="479095"/>
            <a:ext cx="108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ko-KR" sz="2400">
                <a:solidFill>
                  <a:schemeClr val="lt1"/>
                </a:solidFill>
              </a:rPr>
              <a:t>4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g1b68fc20802_0_82"/>
          <p:cNvSpPr txBox="1"/>
          <p:nvPr/>
        </p:nvSpPr>
        <p:spPr>
          <a:xfrm>
            <a:off x="7164288" y="6546830"/>
            <a:ext cx="1728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MINHEEBLOG</a:t>
            </a:r>
            <a:endParaRPr sz="1600">
              <a:solidFill>
                <a:srgbClr val="BFBFB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7" name="Google Shape;427;g1b68fc20802_0_82"/>
          <p:cNvSpPr/>
          <p:nvPr/>
        </p:nvSpPr>
        <p:spPr>
          <a:xfrm>
            <a:off x="1313400" y="2206098"/>
            <a:ext cx="6517200" cy="2854200"/>
          </a:xfrm>
          <a:prstGeom prst="rect">
            <a:avLst/>
          </a:prstGeom>
          <a:solidFill>
            <a:srgbClr val="DAE5F1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8" name="Google Shape;428;g1b68fc20802_0_82"/>
          <p:cNvSpPr txBox="1"/>
          <p:nvPr/>
        </p:nvSpPr>
        <p:spPr>
          <a:xfrm>
            <a:off x="1429350" y="2337500"/>
            <a:ext cx="6627300" cy="2631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Jupyter</a:t>
            </a:r>
            <a:r>
              <a:rPr lang="ko-KR" sz="22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22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NoteBook</a:t>
            </a:r>
            <a:r>
              <a:rPr lang="ko-KR" sz="22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| CPU : Intel </a:t>
            </a:r>
            <a:r>
              <a:rPr lang="ko-KR" sz="22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Xeon</a:t>
            </a:r>
            <a:r>
              <a:rPr lang="ko-KR" sz="22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CPU E5-2630 v4 | RAM : 29GB | GPU : </a:t>
            </a:r>
            <a:r>
              <a:rPr lang="ko-KR" sz="22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Tesla</a:t>
            </a:r>
            <a:r>
              <a:rPr lang="ko-KR" sz="22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P40</a:t>
            </a:r>
            <a:endParaRPr sz="22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-KR" sz="22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Python</a:t>
            </a:r>
            <a:r>
              <a:rPr lang="ko-KR" sz="22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3.8.9</a:t>
            </a:r>
            <a:endParaRPr sz="22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scikit-learn</a:t>
            </a:r>
            <a:r>
              <a:rPr lang="ko-KR" sz="22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1.2.1, </a:t>
            </a:r>
            <a:r>
              <a:rPr lang="ko-KR" sz="22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pandas</a:t>
            </a:r>
            <a:r>
              <a:rPr lang="ko-KR" sz="22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1.5.3</a:t>
            </a:r>
            <a:endParaRPr sz="22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 sz="22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numpy</a:t>
            </a:r>
            <a:r>
              <a:rPr lang="ko-KR" sz="22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1.24.2, </a:t>
            </a:r>
            <a:r>
              <a:rPr lang="ko-KR" sz="22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autogluon</a:t>
            </a:r>
            <a:r>
              <a:rPr lang="ko-KR" sz="22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endParaRPr sz="22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9" name="Google Shape;429;g1b68fc20802_0_82"/>
          <p:cNvSpPr txBox="1"/>
          <p:nvPr/>
        </p:nvSpPr>
        <p:spPr>
          <a:xfrm>
            <a:off x="665150" y="1130650"/>
            <a:ext cx="69162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500" b="1"/>
              <a:t>컴퓨팅 자원</a:t>
            </a:r>
            <a:endParaRPr sz="2500"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1b68fc20802_0_92"/>
          <p:cNvSpPr/>
          <p:nvPr/>
        </p:nvSpPr>
        <p:spPr>
          <a:xfrm>
            <a:off x="251520" y="620688"/>
            <a:ext cx="8640900" cy="5976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6" name="Google Shape;436;g1b68fc20802_0_92"/>
          <p:cNvSpPr/>
          <p:nvPr/>
        </p:nvSpPr>
        <p:spPr>
          <a:xfrm>
            <a:off x="4067944" y="74100"/>
            <a:ext cx="936000" cy="93600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7" name="Google Shape;437;g1b68fc20802_0_92"/>
          <p:cNvSpPr/>
          <p:nvPr/>
        </p:nvSpPr>
        <p:spPr>
          <a:xfrm>
            <a:off x="-9129" y="195475"/>
            <a:ext cx="3393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LGAimers 스마트 공장 제품 품질 상태 분류 AI</a:t>
            </a:r>
            <a:endParaRPr sz="22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8" name="Google Shape;438;g1b68fc20802_0_92"/>
          <p:cNvSpPr txBox="1"/>
          <p:nvPr/>
        </p:nvSpPr>
        <p:spPr>
          <a:xfrm>
            <a:off x="3995936" y="479095"/>
            <a:ext cx="108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ko-KR" sz="2400">
                <a:solidFill>
                  <a:schemeClr val="lt1"/>
                </a:solidFill>
              </a:rPr>
              <a:t>4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g1b68fc20802_0_92"/>
          <p:cNvSpPr txBox="1"/>
          <p:nvPr/>
        </p:nvSpPr>
        <p:spPr>
          <a:xfrm>
            <a:off x="7164288" y="6546830"/>
            <a:ext cx="1728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MINHEEBLOG</a:t>
            </a:r>
            <a:endParaRPr sz="1600">
              <a:solidFill>
                <a:srgbClr val="BFBFB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0" name="Google Shape;440;g1b68fc20802_0_92"/>
          <p:cNvSpPr txBox="1"/>
          <p:nvPr/>
        </p:nvSpPr>
        <p:spPr>
          <a:xfrm>
            <a:off x="2485725" y="3717113"/>
            <a:ext cx="425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Autogluon 모델 학습 소요 시간</a:t>
            </a:r>
            <a:endParaRPr sz="18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1" name="Google Shape;441;g1b68fc20802_0_92"/>
          <p:cNvSpPr txBox="1"/>
          <p:nvPr/>
        </p:nvSpPr>
        <p:spPr>
          <a:xfrm>
            <a:off x="665150" y="905600"/>
            <a:ext cx="69162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500" b="1"/>
              <a:t>소요 시간</a:t>
            </a:r>
            <a:endParaRPr sz="2500" b="1"/>
          </a:p>
        </p:txBody>
      </p:sp>
      <p:sp>
        <p:nvSpPr>
          <p:cNvPr id="442" name="Google Shape;442;g1b68fc20802_0_92"/>
          <p:cNvSpPr txBox="1"/>
          <p:nvPr/>
        </p:nvSpPr>
        <p:spPr>
          <a:xfrm>
            <a:off x="2445575" y="5143925"/>
            <a:ext cx="42528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예측 소요 시간</a:t>
            </a:r>
            <a:endParaRPr sz="18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0.14306 s</a:t>
            </a:r>
            <a:endParaRPr sz="18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43" name="Google Shape;443;g1b68fc20802_0_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0425" y="4209325"/>
            <a:ext cx="43434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g1b68fc20802_0_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2117" y="1713425"/>
            <a:ext cx="6407608" cy="1819062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g1b68fc20802_0_92"/>
          <p:cNvSpPr txBox="1"/>
          <p:nvPr/>
        </p:nvSpPr>
        <p:spPr>
          <a:xfrm>
            <a:off x="2485725" y="4598913"/>
            <a:ext cx="425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 CatBoost 대비 실행 시간 2초 감소 )</a:t>
            </a:r>
            <a:endParaRPr sz="18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46" name="Google Shape;446;g1b68fc20802_0_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09525" y="5556925"/>
            <a:ext cx="4667250" cy="4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2"/>
          <p:cNvSpPr/>
          <p:nvPr/>
        </p:nvSpPr>
        <p:spPr>
          <a:xfrm>
            <a:off x="251520" y="3068960"/>
            <a:ext cx="8640960" cy="352839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3" name="Google Shape;453;p12"/>
          <p:cNvSpPr/>
          <p:nvPr/>
        </p:nvSpPr>
        <p:spPr>
          <a:xfrm>
            <a:off x="2627784" y="1052736"/>
            <a:ext cx="3858956" cy="3858956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4" name="Google Shape;454;p12"/>
          <p:cNvSpPr txBox="1"/>
          <p:nvPr/>
        </p:nvSpPr>
        <p:spPr>
          <a:xfrm>
            <a:off x="2699792" y="2564904"/>
            <a:ext cx="3816424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THANK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YOU</a:t>
            </a:r>
            <a:endParaRPr sz="54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5" name="Google Shape;455;p12"/>
          <p:cNvSpPr txBox="1"/>
          <p:nvPr/>
        </p:nvSpPr>
        <p:spPr>
          <a:xfrm>
            <a:off x="-71047" y="201355"/>
            <a:ext cx="4176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LGAimers 스마트 공장 제품 품질 상태 분류 AI</a:t>
            </a:r>
            <a:endParaRPr sz="24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6" name="Google Shape;456;p12"/>
          <p:cNvSpPr txBox="1"/>
          <p:nvPr/>
        </p:nvSpPr>
        <p:spPr>
          <a:xfrm>
            <a:off x="5397473" y="5101941"/>
            <a:ext cx="27363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Aiming</a:t>
            </a:r>
            <a:endParaRPr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박재현, 이동훈, 이명주, 정민호, 최윤서</a:t>
            </a:r>
            <a:endParaRPr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1505</Words>
  <Application>Microsoft Macintosh PowerPoint</Application>
  <PresentationFormat>화면 슬라이드 쇼(4:3)</PresentationFormat>
  <Paragraphs>299</Paragraphs>
  <Slides>24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7" baseType="lpstr"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minhee park</dc:creator>
  <cp:lastModifiedBy>최윤서</cp:lastModifiedBy>
  <cp:revision>1</cp:revision>
  <dcterms:created xsi:type="dcterms:W3CDTF">2016-11-03T20:47:04Z</dcterms:created>
  <dcterms:modified xsi:type="dcterms:W3CDTF">2023-03-26T02:23:49Z</dcterms:modified>
</cp:coreProperties>
</file>